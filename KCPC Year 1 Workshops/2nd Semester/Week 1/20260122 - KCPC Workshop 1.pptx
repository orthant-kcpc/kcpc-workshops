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</p:sldIdLst>
  <p:sldSz cy="5143500" cx="9144000"/>
  <p:notesSz cx="6858000" cy="9144000"/>
  <p:embeddedFontLst>
    <p:embeddedFont>
      <p:font typeface="Inter"/>
      <p:regular r:id="rId81"/>
      <p:bold r:id="rId82"/>
      <p:italic r:id="rId83"/>
      <p:boldItalic r:id="rId84"/>
    </p:embeddedFont>
    <p:embeddedFont>
      <p:font typeface="DM Sans"/>
      <p:regular r:id="rId85"/>
      <p:bold r:id="rId86"/>
      <p:italic r:id="rId87"/>
      <p:boldItalic r:id="rId88"/>
    </p:embeddedFont>
    <p:embeddedFont>
      <p:font typeface="DM Mono"/>
      <p:regular r:id="rId89"/>
      <p: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Inter-boldItalic.fntdata"/><Relationship Id="rId83" Type="http://schemas.openxmlformats.org/officeDocument/2006/relationships/font" Target="fonts/Inter-italic.fntdata"/><Relationship Id="rId42" Type="http://schemas.openxmlformats.org/officeDocument/2006/relationships/slide" Target="slides/slide37.xml"/><Relationship Id="rId86" Type="http://schemas.openxmlformats.org/officeDocument/2006/relationships/font" Target="fonts/DMSans-bold.fntdata"/><Relationship Id="rId41" Type="http://schemas.openxmlformats.org/officeDocument/2006/relationships/slide" Target="slides/slide36.xml"/><Relationship Id="rId85" Type="http://schemas.openxmlformats.org/officeDocument/2006/relationships/font" Target="fonts/DMSans-regular.fntdata"/><Relationship Id="rId44" Type="http://schemas.openxmlformats.org/officeDocument/2006/relationships/slide" Target="slides/slide39.xml"/><Relationship Id="rId88" Type="http://schemas.openxmlformats.org/officeDocument/2006/relationships/font" Target="fonts/DMSans-boldItalic.fntdata"/><Relationship Id="rId43" Type="http://schemas.openxmlformats.org/officeDocument/2006/relationships/slide" Target="slides/slide38.xml"/><Relationship Id="rId87" Type="http://schemas.openxmlformats.org/officeDocument/2006/relationships/font" Target="fonts/DMSans-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DMMono-regular.fntdata"/><Relationship Id="rId80" Type="http://schemas.openxmlformats.org/officeDocument/2006/relationships/slide" Target="slides/slide75.xml"/><Relationship Id="rId82" Type="http://schemas.openxmlformats.org/officeDocument/2006/relationships/font" Target="fonts/Inter-bold.fntdata"/><Relationship Id="rId81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0" Type="http://schemas.openxmlformats.org/officeDocument/2006/relationships/font" Target="fonts/DMMono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e118c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e118c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7e118ce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7e118ce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eebc3b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eebc3b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9882ac44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9882ac44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9882ac44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9882ac44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9882ac44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9882ac44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1420c74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81420c74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81420c74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81420c7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81420c74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81420c74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81420c74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81420c74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9882ac448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9882ac448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7f542116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7f542116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7f542116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7f542116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1420c74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81420c7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1420c74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81420c74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81420c74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81420c7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81420c74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81420c74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81420c74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81420c7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81420c7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81420c7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7f542116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7f542116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7f54211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7f54211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81420c74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81420c74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81420c74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81420c74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81420c74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81420c74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81420c74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81420c74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81420c74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81420c74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81420c74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81420c74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7f542116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7f542116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7eebc3b3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7eebc3b3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7f54211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7f54211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7f542116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7f54211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7f54211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7f54211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7f542116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7f542116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7f542116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7f542116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7f542116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7f542116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7f542116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7f542116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7eebc3b3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b7eebc3b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7f54211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7f54211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7f542116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7f542116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7f542116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7f542116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7f542116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7f542116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7f542116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7f542116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7f542116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7f542116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7f542116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b7f542116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7f542116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b7f542116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7f542116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b7f542116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7f542116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b7f542116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7f542116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7f542116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7f542116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7f542116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7f542116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7f542116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time being a GCSE/High School level of maths is more than enough for competitive programming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7f542116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7f542116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7f542116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b7f542116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7f542116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b7f542116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7f542116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7f542116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7f542116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7f542116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7f542116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7f542116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7f542116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7f542116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7f5421164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7f542116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7e118ceb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7e118ceb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7f542116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7f542116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7f542116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7f542116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81420c74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81420c74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81420c74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b81420c74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81420c74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81420c74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81420c74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b81420c74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81420c74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b81420c7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81420c74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81420c74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7f542116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7f542116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7f542116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7f542116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b7f5421164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b7f5421164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7f542116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b7f542116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7e118ceb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b7e118ceb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b7f542116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b7f542116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7f542116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b7f542116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7f542116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b7f542116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457200"/>
            <a:ext cx="8229600" cy="2800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4800"/>
              <a:buFont typeface="DM Mono"/>
              <a:buNone/>
              <a:defRPr sz="4800">
                <a:solidFill>
                  <a:srgbClr val="4C4F69"/>
                </a:solidFill>
                <a:latin typeface="DM Mono"/>
                <a:ea typeface="DM Mono"/>
                <a:cs typeface="DM Mono"/>
                <a:sym typeface="DM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3257875"/>
            <a:ext cx="8229600" cy="1428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400"/>
              <a:buFont typeface="DM Sans"/>
              <a:buNone/>
              <a:defRPr sz="24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8680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86847" y="4686425"/>
            <a:ext cx="4572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772400" y="0"/>
            <a:ext cx="9144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rPr>
              <a:t>KCPC</a:t>
            </a:r>
            <a:endParaRPr sz="1600"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68680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1486263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1486375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3" name="Google Shape;33;p3"/>
          <p:cNvGrpSpPr/>
          <p:nvPr/>
        </p:nvGrpSpPr>
        <p:grpSpPr>
          <a:xfrm rot="5400000">
            <a:off x="91440" y="1577802"/>
            <a:ext cx="274315" cy="274332"/>
            <a:chOff x="96076" y="654376"/>
            <a:chExt cx="369896" cy="333900"/>
          </a:xfrm>
        </p:grpSpPr>
        <p:cxnSp>
          <p:nvCxnSpPr>
            <p:cNvPr id="34" name="Google Shape;34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" name="Google Shape;35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" name="Google Shape;37;p3"/>
          <p:cNvSpPr/>
          <p:nvPr/>
        </p:nvSpPr>
        <p:spPr>
          <a:xfrm>
            <a:off x="457200" y="1943463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0" y="1943575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57200" y="2400638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0" y="240075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2857788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2" name="Google Shape;42;p3"/>
          <p:cNvGrpSpPr/>
          <p:nvPr/>
        </p:nvGrpSpPr>
        <p:grpSpPr>
          <a:xfrm rot="5400000">
            <a:off x="91440" y="2035002"/>
            <a:ext cx="274315" cy="274332"/>
            <a:chOff x="96076" y="654376"/>
            <a:chExt cx="369896" cy="333900"/>
          </a:xfrm>
        </p:grpSpPr>
        <p:cxnSp>
          <p:nvCxnSpPr>
            <p:cNvPr id="43" name="Google Shape;43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" name="Google Shape;44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6" name="Google Shape;46;p3"/>
          <p:cNvSpPr/>
          <p:nvPr/>
        </p:nvSpPr>
        <p:spPr>
          <a:xfrm>
            <a:off x="0" y="28579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3314913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8" name="Google Shape;48;p3"/>
          <p:cNvGrpSpPr/>
          <p:nvPr/>
        </p:nvGrpSpPr>
        <p:grpSpPr>
          <a:xfrm rot="5400000">
            <a:off x="91440" y="2492177"/>
            <a:ext cx="274315" cy="274332"/>
            <a:chOff x="96076" y="654376"/>
            <a:chExt cx="369896" cy="333900"/>
          </a:xfrm>
        </p:grpSpPr>
        <p:cxnSp>
          <p:nvCxnSpPr>
            <p:cNvPr id="49" name="Google Shape;49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" name="Google Shape;50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2" name="Google Shape;52;p3"/>
          <p:cNvSpPr/>
          <p:nvPr/>
        </p:nvSpPr>
        <p:spPr>
          <a:xfrm>
            <a:off x="0" y="3315025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3772013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4" name="Google Shape;54;p3"/>
          <p:cNvGrpSpPr/>
          <p:nvPr/>
        </p:nvGrpSpPr>
        <p:grpSpPr>
          <a:xfrm rot="5400000">
            <a:off x="91440" y="2949327"/>
            <a:ext cx="274315" cy="274332"/>
            <a:chOff x="96076" y="654376"/>
            <a:chExt cx="369896" cy="333900"/>
          </a:xfrm>
        </p:grpSpPr>
        <p:cxnSp>
          <p:nvCxnSpPr>
            <p:cNvPr id="55" name="Google Shape;55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" name="Google Shape;56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8" name="Google Shape;58;p3"/>
          <p:cNvSpPr/>
          <p:nvPr/>
        </p:nvSpPr>
        <p:spPr>
          <a:xfrm>
            <a:off x="0" y="3772125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4229088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0" name="Google Shape;60;p3"/>
          <p:cNvGrpSpPr/>
          <p:nvPr/>
        </p:nvGrpSpPr>
        <p:grpSpPr>
          <a:xfrm rot="5400000">
            <a:off x="91440" y="3406452"/>
            <a:ext cx="274315" cy="274332"/>
            <a:chOff x="96076" y="654376"/>
            <a:chExt cx="369896" cy="333900"/>
          </a:xfrm>
        </p:grpSpPr>
        <p:cxnSp>
          <p:nvCxnSpPr>
            <p:cNvPr id="61" name="Google Shape;61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" name="Google Shape;62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3"/>
          <p:cNvSpPr/>
          <p:nvPr/>
        </p:nvSpPr>
        <p:spPr>
          <a:xfrm>
            <a:off x="0" y="42292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3"/>
          <p:cNvSpPr txBox="1"/>
          <p:nvPr>
            <p:ph idx="1" type="subTitle"/>
          </p:nvPr>
        </p:nvSpPr>
        <p:spPr>
          <a:xfrm>
            <a:off x="457200" y="14862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500"/>
              <a:buFont typeface="DM Sans"/>
              <a:buNone/>
              <a:defRPr sz="25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66" name="Google Shape;66;p3"/>
          <p:cNvGrpSpPr/>
          <p:nvPr/>
        </p:nvGrpSpPr>
        <p:grpSpPr>
          <a:xfrm rot="5400000">
            <a:off x="91440" y="3863552"/>
            <a:ext cx="274315" cy="274332"/>
            <a:chOff x="96076" y="654376"/>
            <a:chExt cx="369896" cy="333900"/>
          </a:xfrm>
        </p:grpSpPr>
        <p:cxnSp>
          <p:nvCxnSpPr>
            <p:cNvPr id="67" name="Google Shape;67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" name="Google Shape;68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0" name="Google Shape;70;p3"/>
          <p:cNvSpPr txBox="1"/>
          <p:nvPr>
            <p:ph idx="2" type="subTitle"/>
          </p:nvPr>
        </p:nvSpPr>
        <p:spPr>
          <a:xfrm>
            <a:off x="457200" y="194342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3"/>
          <p:cNvSpPr txBox="1"/>
          <p:nvPr>
            <p:ph idx="3" type="subTitle"/>
          </p:nvPr>
        </p:nvSpPr>
        <p:spPr>
          <a:xfrm>
            <a:off x="457200" y="28577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72" name="Google Shape;72;p3"/>
          <p:cNvGrpSpPr/>
          <p:nvPr/>
        </p:nvGrpSpPr>
        <p:grpSpPr>
          <a:xfrm rot="5400000">
            <a:off x="91440" y="4320627"/>
            <a:ext cx="274315" cy="274332"/>
            <a:chOff x="96076" y="654376"/>
            <a:chExt cx="369896" cy="333900"/>
          </a:xfrm>
        </p:grpSpPr>
        <p:cxnSp>
          <p:nvCxnSpPr>
            <p:cNvPr id="73" name="Google Shape;73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" name="Google Shape;74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" name="Google Shape;76;p3"/>
          <p:cNvSpPr txBox="1"/>
          <p:nvPr>
            <p:ph idx="4" type="subTitle"/>
          </p:nvPr>
        </p:nvSpPr>
        <p:spPr>
          <a:xfrm>
            <a:off x="457200" y="24007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p3"/>
          <p:cNvSpPr txBox="1"/>
          <p:nvPr>
            <p:ph idx="5" type="subTitle"/>
          </p:nvPr>
        </p:nvSpPr>
        <p:spPr>
          <a:xfrm>
            <a:off x="457200" y="331487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3"/>
          <p:cNvSpPr txBox="1"/>
          <p:nvPr>
            <p:ph idx="6" type="subTitle"/>
          </p:nvPr>
        </p:nvSpPr>
        <p:spPr>
          <a:xfrm>
            <a:off x="457200" y="37720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3"/>
          <p:cNvSpPr txBox="1"/>
          <p:nvPr>
            <p:ph idx="7" type="subTitle"/>
          </p:nvPr>
        </p:nvSpPr>
        <p:spPr>
          <a:xfrm>
            <a:off x="457200" y="42291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F77"/>
              </a:buClr>
              <a:buSzPts val="2000"/>
              <a:buFont typeface="DM Sans"/>
              <a:buNone/>
              <a:defRPr sz="2000">
                <a:solidFill>
                  <a:srgbClr val="5C5F77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p3"/>
          <p:cNvSpPr txBox="1"/>
          <p:nvPr>
            <p:ph idx="12" type="sldNum"/>
          </p:nvPr>
        </p:nvSpPr>
        <p:spPr>
          <a:xfrm>
            <a:off x="8686800" y="4686400"/>
            <a:ext cx="4572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457200"/>
            <a:ext cx="8229600" cy="10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400"/>
              <a:buNone/>
              <a:defRPr sz="2400">
                <a:solidFill>
                  <a:srgbClr val="4C4F6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9pPr>
          </a:lstStyle>
          <a:p/>
        </p:txBody>
      </p:sp>
      <p:sp>
        <p:nvSpPr>
          <p:cNvPr id="82" name="Google Shape;82;p3"/>
          <p:cNvSpPr/>
          <p:nvPr/>
        </p:nvSpPr>
        <p:spPr>
          <a:xfrm>
            <a:off x="7772400" y="0"/>
            <a:ext cx="9144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rPr>
              <a:t>KCPC</a:t>
            </a:r>
            <a:endParaRPr sz="1600"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68680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0" y="4572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686800" y="4572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400"/>
              <a:buFont typeface="DM Sans"/>
              <a:buNone/>
              <a:defRPr sz="24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500"/>
              <a:buFont typeface="DM Sans"/>
              <a:buNone/>
              <a:defRPr sz="25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000"/>
              <a:buChar char="●"/>
              <a:defRPr sz="2000">
                <a:solidFill>
                  <a:srgbClr val="4C4F69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600"/>
              <a:buChar char="○"/>
              <a:defRPr sz="1600">
                <a:solidFill>
                  <a:srgbClr val="4C4F69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■"/>
              <a:defRPr sz="1200">
                <a:solidFill>
                  <a:srgbClr val="4C4F69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●"/>
              <a:defRPr sz="1200">
                <a:solidFill>
                  <a:srgbClr val="4C4F69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○"/>
              <a:defRPr sz="1200">
                <a:solidFill>
                  <a:srgbClr val="4C4F69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■"/>
              <a:defRPr sz="1200">
                <a:solidFill>
                  <a:srgbClr val="4C4F69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●"/>
              <a:defRPr sz="1200">
                <a:solidFill>
                  <a:srgbClr val="4C4F69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○"/>
              <a:defRPr sz="1200">
                <a:solidFill>
                  <a:srgbClr val="4C4F69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1200"/>
              <a:buChar char="■"/>
              <a:defRPr sz="1200">
                <a:solidFill>
                  <a:srgbClr val="4C4F69"/>
                </a:solidFill>
              </a:defRPr>
            </a:lvl9pPr>
          </a:lstStyle>
          <a:p/>
        </p:txBody>
      </p:sp>
      <p:grpSp>
        <p:nvGrpSpPr>
          <p:cNvPr id="97" name="Google Shape;97;p4"/>
          <p:cNvGrpSpPr/>
          <p:nvPr/>
        </p:nvGrpSpPr>
        <p:grpSpPr>
          <a:xfrm rot="5400000">
            <a:off x="91440" y="548640"/>
            <a:ext cx="274315" cy="274332"/>
            <a:chOff x="96076" y="654376"/>
            <a:chExt cx="369896" cy="333900"/>
          </a:xfrm>
        </p:grpSpPr>
        <p:cxnSp>
          <p:nvCxnSpPr>
            <p:cNvPr id="98" name="Google Shape;98;p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" name="Google Shape;99;p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4C4F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2C3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buNone/>
              <a:defRPr sz="13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772400" y="0"/>
            <a:ext cx="9144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rPr>
              <a:t>KCPC</a:t>
            </a:r>
            <a:endParaRPr sz="1600"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TITLE_2_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686800" y="457200"/>
            <a:ext cx="457200" cy="42291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5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C4F69"/>
              </a:buClr>
              <a:buSzPts val="2800"/>
              <a:buNone/>
              <a:defRPr>
                <a:solidFill>
                  <a:srgbClr val="4C4F69"/>
                </a:solidFill>
              </a:defRPr>
            </a:lvl9pPr>
          </a:lstStyle>
          <a:p/>
        </p:txBody>
      </p:sp>
      <p:sp>
        <p:nvSpPr>
          <p:cNvPr id="114" name="Google Shape;114;p5"/>
          <p:cNvSpPr/>
          <p:nvPr/>
        </p:nvSpPr>
        <p:spPr>
          <a:xfrm>
            <a:off x="7772400" y="0"/>
            <a:ext cx="914400" cy="457200"/>
          </a:xfrm>
          <a:prstGeom prst="rect">
            <a:avLst/>
          </a:prstGeom>
          <a:solidFill>
            <a:srgbClr val="EFF1F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C4F69"/>
                </a:solidFill>
                <a:latin typeface="DM Sans"/>
                <a:ea typeface="DM Sans"/>
                <a:cs typeface="DM Sans"/>
                <a:sym typeface="DM Sans"/>
              </a:rPr>
              <a:t>KCPC</a:t>
            </a:r>
            <a:endParaRPr sz="1600">
              <a:solidFill>
                <a:srgbClr val="4C4F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F1F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2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"/>
              <a:buChar char="●"/>
              <a:defRPr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ctrTitle"/>
          </p:nvPr>
        </p:nvSpPr>
        <p:spPr>
          <a:xfrm>
            <a:off x="457200" y="457200"/>
            <a:ext cx="8229600" cy="28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 hear you’d like to do some ranked coding…</a:t>
            </a:r>
            <a:endParaRPr/>
          </a:p>
        </p:txBody>
      </p:sp>
      <p:sp>
        <p:nvSpPr>
          <p:cNvPr id="120" name="Google Shape;120;p6"/>
          <p:cNvSpPr txBox="1"/>
          <p:nvPr>
            <p:ph idx="1" type="subTitle"/>
          </p:nvPr>
        </p:nvSpPr>
        <p:spPr>
          <a:xfrm>
            <a:off x="457200" y="3257875"/>
            <a:ext cx="82296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Competitive Programming</a:t>
            </a:r>
            <a:endParaRPr/>
          </a:p>
        </p:txBody>
      </p:sp>
      <p:sp>
        <p:nvSpPr>
          <p:cNvPr id="121" name="Google Shape;121;p6"/>
          <p:cNvSpPr txBox="1"/>
          <p:nvPr>
            <p:ph idx="12" type="sldNum"/>
          </p:nvPr>
        </p:nvSpPr>
        <p:spPr>
          <a:xfrm>
            <a:off x="8686847" y="4686425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457200"/>
            <a:ext cx="8229600" cy="10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A</a:t>
            </a:r>
            <a:r>
              <a:rPr lang="en"/>
              <a:t>genda</a:t>
            </a:r>
            <a:endParaRPr/>
          </a:p>
        </p:txBody>
      </p:sp>
      <p:sp>
        <p:nvSpPr>
          <p:cNvPr id="127" name="Google Shape;127;p7"/>
          <p:cNvSpPr txBox="1"/>
          <p:nvPr>
            <p:ph idx="2" type="subTitle"/>
          </p:nvPr>
        </p:nvSpPr>
        <p:spPr>
          <a:xfrm>
            <a:off x="457200" y="194342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KCPC do?</a:t>
            </a:r>
            <a:endParaRPr/>
          </a:p>
        </p:txBody>
      </p:sp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8686800" y="46864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7"/>
          <p:cNvSpPr txBox="1"/>
          <p:nvPr>
            <p:ph idx="1" type="subTitle"/>
          </p:nvPr>
        </p:nvSpPr>
        <p:spPr>
          <a:xfrm>
            <a:off x="457200" y="14862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KCPC?</a:t>
            </a:r>
            <a:endParaRPr/>
          </a:p>
        </p:txBody>
      </p:sp>
      <p:sp>
        <p:nvSpPr>
          <p:cNvPr id="130" name="Google Shape;130;p7"/>
          <p:cNvSpPr txBox="1"/>
          <p:nvPr>
            <p:ph idx="3" type="subTitle"/>
          </p:nvPr>
        </p:nvSpPr>
        <p:spPr>
          <a:xfrm>
            <a:off x="457200" y="28577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131" name="Google Shape;131;p7"/>
          <p:cNvSpPr txBox="1"/>
          <p:nvPr>
            <p:ph idx="4" type="subTitle"/>
          </p:nvPr>
        </p:nvSpPr>
        <p:spPr>
          <a:xfrm>
            <a:off x="457200" y="24007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start KCPC?</a:t>
            </a:r>
            <a:endParaRPr/>
          </a:p>
        </p:txBody>
      </p:sp>
      <p:sp>
        <p:nvSpPr>
          <p:cNvPr id="132" name="Google Shape;132;p7"/>
          <p:cNvSpPr txBox="1"/>
          <p:nvPr>
            <p:ph idx="5" type="subTitle"/>
          </p:nvPr>
        </p:nvSpPr>
        <p:spPr>
          <a:xfrm>
            <a:off x="457200" y="331487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</a:t>
            </a:r>
            <a:r>
              <a:rPr lang="en"/>
              <a:t> Competitive Programming?</a:t>
            </a:r>
            <a:endParaRPr/>
          </a:p>
        </p:txBody>
      </p:sp>
      <p:sp>
        <p:nvSpPr>
          <p:cNvPr id="133" name="Google Shape;133;p7"/>
          <p:cNvSpPr txBox="1"/>
          <p:nvPr>
            <p:ph idx="6" type="subTitle"/>
          </p:nvPr>
        </p:nvSpPr>
        <p:spPr>
          <a:xfrm>
            <a:off x="457200" y="37720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nice problems</a:t>
            </a:r>
            <a:endParaRPr/>
          </a:p>
        </p:txBody>
      </p:sp>
      <p:sp>
        <p:nvSpPr>
          <p:cNvPr id="134" name="Google Shape;134;p7"/>
          <p:cNvSpPr txBox="1"/>
          <p:nvPr>
            <p:ph idx="7" type="subTitle"/>
          </p:nvPr>
        </p:nvSpPr>
        <p:spPr>
          <a:xfrm>
            <a:off x="457200" y="422915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first attendance…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146" name="Google Shape;146;p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</a:t>
            </a:r>
            <a:endParaRPr/>
          </a:p>
        </p:txBody>
      </p:sp>
      <p:pic>
        <p:nvPicPr>
          <p:cNvPr id="147" name="Google Shape;14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763" y="981225"/>
            <a:ext cx="3648475" cy="36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0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59" name="Google Shape;159;p1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66" name="Google Shape;166;p1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Vice President: Kutay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73" name="Google Shape;173;p13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Vice President: Kutay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General Secretary and Treasurer: Annoor (Beed)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80" name="Google Shape;180;p1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Vice President: Kutay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General Secretary and Treasurer: Annoor (Beed)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Competitive Programmes: Marcell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87" name="Google Shape;187;p15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Vice President: Kutay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General Secretary and Treasurer: Annoor (Beed)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Competitive Programmes: Marcell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In collaboration with KCL Tech!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KCPC</a:t>
            </a:r>
            <a:endParaRPr/>
          </a:p>
        </p:txBody>
      </p:sp>
      <p:sp>
        <p:nvSpPr>
          <p:cNvPr id="194" name="Google Shape;194;p16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King’s Competitive Programming Club: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President: Matthew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Vice President: Kutay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General Secretary and Treasurer: Annoor (Beed)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Competitive Programmes: Marcell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In collaboration with KCL Tech!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Partnered with Orthant Research Group under the Orthant Research Europe division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7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KCPC?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1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08" name="Google Shape;208;p1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1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15" name="Google Shape;215;p1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2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22" name="Google Shape;222;p2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Replace isolated practise with community learning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29" name="Google Shape;229;p2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Replace isolated practise with community learning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Develop elite algorithmic thinkers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36" name="Google Shape;236;p2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Replace isolated practise with community learning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Develop elite algorithmic thinkers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Connect students to top-tier opportunities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3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43" name="Google Shape;243;p23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Replace isolated practise with community learning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Develop elite algorithmic thinkers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Connect students to top-tier opportunities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Treat competitive programming as a serious discipline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Why start King’s Competitive Programming Club?</a:t>
            </a:r>
            <a:endParaRPr sz="2800"/>
          </a:p>
        </p:txBody>
      </p:sp>
      <p:sp>
        <p:nvSpPr>
          <p:cNvPr id="250" name="Google Shape;250;p2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Create a central hub for algorithmic training in London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structured, high-quality training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Replace isolated practise with community learning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Develop elite algorithmic thinkers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Connect students to top-tier opportunities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Treat competitive programming as a serious discipline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Build a cross-University collaborative network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25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KCPC do?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63" name="Google Shape;263;p26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27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70" name="Google Shape;270;p27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2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77" name="Google Shape;277;p2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Host competitive programming contests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2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84" name="Google Shape;284;p2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Host competitive programming contests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Train competition teams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91" name="Google Shape;291;p3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Host competitive programming contests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Train competition teams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mentoring and coaching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298" name="Google Shape;298;p3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Host competitive programming contests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Train competition teams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mentoring and coaching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Support all skill levels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3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does KCPC do?</a:t>
            </a:r>
            <a:endParaRPr sz="2800"/>
          </a:p>
        </p:txBody>
      </p:sp>
      <p:sp>
        <p:nvSpPr>
          <p:cNvPr id="305" name="Google Shape;305;p3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Run weekly training sessions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Teach algorithm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Host competitive programming contests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Train competition teams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Provide mentoring and coaching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Support all skill levels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Maintain an active collaborative community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3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17" name="Google Shape;317;p3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</p:txBody>
      </p:sp>
      <p:sp>
        <p:nvSpPr>
          <p:cNvPr id="318" name="Google Shape;318;p3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24" name="Google Shape;324;p35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correct and efficient </a:t>
            </a:r>
            <a:r>
              <a:rPr b="1" lang="en"/>
              <a:t>algorithms</a:t>
            </a:r>
            <a:endParaRPr/>
          </a:p>
        </p:txBody>
      </p:sp>
      <p:sp>
        <p:nvSpPr>
          <p:cNvPr id="325" name="Google Shape;325;p3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31" name="Google Shape;331;p36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correct and efficient </a:t>
            </a:r>
            <a:r>
              <a:rPr b="1" lang="en"/>
              <a:t>algorithms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Must adhere to </a:t>
            </a:r>
            <a:r>
              <a:rPr b="1" lang="en"/>
              <a:t>constraints</a:t>
            </a:r>
            <a:r>
              <a:rPr lang="en"/>
              <a:t> to score points</a:t>
            </a:r>
            <a:endParaRPr/>
          </a:p>
        </p:txBody>
      </p:sp>
      <p:sp>
        <p:nvSpPr>
          <p:cNvPr id="332" name="Google Shape;332;p36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38" name="Google Shape;338;p37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correct and efficient </a:t>
            </a:r>
            <a:r>
              <a:rPr b="1" lang="en"/>
              <a:t>algorithms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Must adhere to </a:t>
            </a:r>
            <a:r>
              <a:rPr b="1" lang="en"/>
              <a:t>constraints</a:t>
            </a:r>
            <a:r>
              <a:rPr lang="en"/>
              <a:t> to score points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Requires both </a:t>
            </a:r>
            <a:r>
              <a:rPr b="1" lang="en"/>
              <a:t>designing</a:t>
            </a:r>
            <a:r>
              <a:rPr lang="en"/>
              <a:t> and </a:t>
            </a:r>
            <a:r>
              <a:rPr b="1" lang="en"/>
              <a:t>implementing</a:t>
            </a:r>
            <a:r>
              <a:rPr lang="en"/>
              <a:t> algorithms</a:t>
            </a:r>
            <a:endParaRPr/>
          </a:p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45" name="Google Shape;345;p3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correct and efficient </a:t>
            </a:r>
            <a:r>
              <a:rPr b="1" lang="en"/>
              <a:t>algorithms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Must adhere to </a:t>
            </a:r>
            <a:r>
              <a:rPr b="1" lang="en"/>
              <a:t>constraints</a:t>
            </a:r>
            <a:r>
              <a:rPr lang="en"/>
              <a:t> to score points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Requires both </a:t>
            </a:r>
            <a:r>
              <a:rPr b="1" lang="en"/>
              <a:t>designing</a:t>
            </a:r>
            <a:r>
              <a:rPr lang="en"/>
              <a:t> and </a:t>
            </a:r>
            <a:r>
              <a:rPr b="1" lang="en"/>
              <a:t>implementing</a:t>
            </a:r>
            <a:r>
              <a:rPr lang="en"/>
              <a:t> algorithms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Timed competitions</a:t>
            </a:r>
            <a:r>
              <a:rPr lang="en"/>
              <a:t> are held </a:t>
            </a:r>
            <a:r>
              <a:rPr b="1" lang="en"/>
              <a:t>online</a:t>
            </a:r>
            <a:r>
              <a:rPr lang="en"/>
              <a:t> or at </a:t>
            </a:r>
            <a:r>
              <a:rPr b="1" lang="en"/>
              <a:t>LAN</a:t>
            </a:r>
            <a:r>
              <a:rPr lang="en"/>
              <a:t> events</a:t>
            </a:r>
            <a:endParaRPr/>
          </a:p>
        </p:txBody>
      </p:sp>
      <p:sp>
        <p:nvSpPr>
          <p:cNvPr id="346" name="Google Shape;346;p3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52" name="Google Shape;352;p3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correct and efficient </a:t>
            </a:r>
            <a:r>
              <a:rPr b="1" lang="en"/>
              <a:t>algorithms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Must adhere to </a:t>
            </a:r>
            <a:r>
              <a:rPr b="1" lang="en"/>
              <a:t>constraints</a:t>
            </a:r>
            <a:r>
              <a:rPr lang="en"/>
              <a:t> to score points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Requires both </a:t>
            </a:r>
            <a:r>
              <a:rPr b="1" lang="en"/>
              <a:t>designing</a:t>
            </a:r>
            <a:r>
              <a:rPr lang="en"/>
              <a:t> and </a:t>
            </a:r>
            <a:r>
              <a:rPr b="1" lang="en"/>
              <a:t>implementing</a:t>
            </a:r>
            <a:r>
              <a:rPr lang="en"/>
              <a:t> algorithms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Timed competitions are held </a:t>
            </a:r>
            <a:r>
              <a:rPr b="1" lang="en"/>
              <a:t>online</a:t>
            </a:r>
            <a:r>
              <a:rPr lang="en"/>
              <a:t> or at </a:t>
            </a:r>
            <a:r>
              <a:rPr b="1" lang="en"/>
              <a:t>LAN</a:t>
            </a:r>
            <a:r>
              <a:rPr lang="en"/>
              <a:t> events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Solutions are judged automatically on submission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Competitive Programming?</a:t>
            </a:r>
            <a:endParaRPr/>
          </a:p>
        </p:txBody>
      </p:sp>
      <p:sp>
        <p:nvSpPr>
          <p:cNvPr id="359" name="Google Shape;359;p4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 </a:t>
            </a:r>
            <a:r>
              <a:rPr b="1" lang="en"/>
              <a:t>sport</a:t>
            </a:r>
            <a:r>
              <a:rPr lang="en"/>
              <a:t> focused on solving challenging problems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Problems are solved via </a:t>
            </a:r>
            <a:r>
              <a:rPr lang="en"/>
              <a:t>correct and efficient </a:t>
            </a:r>
            <a:r>
              <a:rPr b="1" lang="en"/>
              <a:t>algorithms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Must adhere to </a:t>
            </a:r>
            <a:r>
              <a:rPr b="1" lang="en"/>
              <a:t>constraints</a:t>
            </a:r>
            <a:r>
              <a:rPr lang="en"/>
              <a:t> to score points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Requires both </a:t>
            </a:r>
            <a:r>
              <a:rPr b="1" lang="en"/>
              <a:t>designing</a:t>
            </a:r>
            <a:r>
              <a:rPr lang="en"/>
              <a:t> and </a:t>
            </a:r>
            <a:r>
              <a:rPr b="1" lang="en"/>
              <a:t>implementing</a:t>
            </a:r>
            <a:r>
              <a:rPr lang="en"/>
              <a:t> algorithms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Timed competitions are held </a:t>
            </a:r>
            <a:r>
              <a:rPr b="1" lang="en"/>
              <a:t>online</a:t>
            </a:r>
            <a:r>
              <a:rPr lang="en"/>
              <a:t> or at </a:t>
            </a:r>
            <a:r>
              <a:rPr b="1" lang="en"/>
              <a:t>LAN</a:t>
            </a:r>
            <a:r>
              <a:rPr lang="en"/>
              <a:t> events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Solutions are judged automatically on submission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Competitions are timed</a:t>
            </a:r>
            <a:endParaRPr/>
          </a:p>
        </p:txBody>
      </p:sp>
      <p:sp>
        <p:nvSpPr>
          <p:cNvPr id="360" name="Google Shape;360;p4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41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</a:t>
            </a:r>
            <a:r>
              <a:rPr lang="en"/>
              <a:t>efficient</a:t>
            </a:r>
            <a:r>
              <a:rPr lang="en"/>
              <a:t> algorithm?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372" name="Google Shape;372;p4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</a:t>
            </a:r>
            <a:r>
              <a:rPr lang="en"/>
              <a:t>: For all solutions given by an algorithm is indeed correct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379" name="Google Shape;379;p43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Sound: For all solutions given by an algorithm is indeed correct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Complete: An algorithm finds a solution when one exist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3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386" name="Google Shape;386;p4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Sound: For all solutions given by an algorithm is indeed correct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Complete: An algorithm finds a solution when one exist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Fast: An algorithm terminates within the allotted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393" name="Google Shape;393;p45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Sound: For all solutions given by an algorithm is indeed correct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Complete: An algorithm finds a solution when one exist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Fast: An algorithm terminates within the allotted time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Small: An algorithm only uses the memory allowed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400" name="Google Shape;400;p46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Sound: For all solutions given by an algorithm is indeed correct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Complete: An algorithm finds a solution when one exist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Fast: An algorithm terminates within the allotted time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Small: An algorithm only uses the memory allowed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Making algorithms sound and complete are relatively easy once you understand the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6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correct and efficient algorithm?</a:t>
            </a:r>
            <a:endParaRPr/>
          </a:p>
        </p:txBody>
      </p:sp>
      <p:sp>
        <p:nvSpPr>
          <p:cNvPr id="407" name="Google Shape;407;p47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Sound: For all solutions given by an algorithm is indeed correct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Complete: An algorithm finds a solution when one exist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Fast: An algorithm terminates within the allotted time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Small: An algorithm only uses the memory allowed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Making algorithms sound and complete are relatively easy once you understand the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creating them to be fast and small is where most of the challenges lie.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7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Requirements for designing algorithms</a:t>
            </a:r>
            <a:endParaRPr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/>
          </a:p>
        </p:txBody>
      </p:sp>
      <p:sp>
        <p:nvSpPr>
          <p:cNvPr id="421" name="Google Shape;421;p4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27" name="Google Shape;427;p5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/>
          </a:p>
        </p:txBody>
      </p:sp>
      <p:sp>
        <p:nvSpPr>
          <p:cNvPr id="428" name="Google Shape;428;p5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34" name="Google Shape;434;p5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Knowledge of </a:t>
            </a:r>
            <a:r>
              <a:rPr b="1" lang="en"/>
              <a:t>algorithm theory</a:t>
            </a:r>
            <a:endParaRPr/>
          </a:p>
        </p:txBody>
      </p:sp>
      <p:sp>
        <p:nvSpPr>
          <p:cNvPr id="435" name="Google Shape;435;p5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41" name="Google Shape;441;p5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Knowledge of </a:t>
            </a:r>
            <a:r>
              <a:rPr b="1" lang="en"/>
              <a:t>algorithm theory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use </a:t>
            </a:r>
            <a:r>
              <a:rPr b="1" lang="en"/>
              <a:t>well-known techniques</a:t>
            </a:r>
            <a:endParaRPr/>
          </a:p>
        </p:txBody>
      </p:sp>
      <p:sp>
        <p:nvSpPr>
          <p:cNvPr id="442" name="Google Shape;442;p5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48" name="Google Shape;448;p53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Knowledge of </a:t>
            </a:r>
            <a:r>
              <a:rPr b="1" lang="en"/>
              <a:t>algorithm theory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use </a:t>
            </a:r>
            <a:r>
              <a:rPr b="1" lang="en"/>
              <a:t>well-known techniques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Creativity</a:t>
            </a:r>
            <a:r>
              <a:rPr lang="en"/>
              <a:t> to develop new insights and ideas</a:t>
            </a:r>
            <a:endParaRPr/>
          </a:p>
        </p:txBody>
      </p:sp>
      <p:sp>
        <p:nvSpPr>
          <p:cNvPr id="449" name="Google Shape;449;p53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55" name="Google Shape;455;p5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Knowledge of </a:t>
            </a:r>
            <a:r>
              <a:rPr b="1" lang="en"/>
              <a:t>algorithm theory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use </a:t>
            </a:r>
            <a:r>
              <a:rPr b="1" lang="en"/>
              <a:t>well-known techniques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Creativity</a:t>
            </a:r>
            <a:r>
              <a:rPr lang="en"/>
              <a:t> to develop new insights and ideas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Awareness of how algorithms related to </a:t>
            </a:r>
            <a:r>
              <a:rPr b="1" lang="en"/>
              <a:t>scientific research</a:t>
            </a:r>
            <a:endParaRPr/>
          </a:p>
        </p:txBody>
      </p:sp>
      <p:sp>
        <p:nvSpPr>
          <p:cNvPr id="456" name="Google Shape;456;p5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designing algorithms</a:t>
            </a:r>
            <a:endParaRPr/>
          </a:p>
        </p:txBody>
      </p:sp>
      <p:sp>
        <p:nvSpPr>
          <p:cNvPr id="462" name="Google Shape;462;p55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foundations in </a:t>
            </a:r>
            <a:r>
              <a:rPr b="1" lang="en"/>
              <a:t>mathematics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Algorithmic </a:t>
            </a:r>
            <a:r>
              <a:rPr b="1" lang="en"/>
              <a:t>analysis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Knowledge of </a:t>
            </a:r>
            <a:r>
              <a:rPr b="1" lang="en"/>
              <a:t>algorithm theory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use </a:t>
            </a:r>
            <a:r>
              <a:rPr b="1" lang="en"/>
              <a:t>well-known techniques</a:t>
            </a:r>
            <a:endParaRPr b="1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Creativity</a:t>
            </a:r>
            <a:r>
              <a:rPr lang="en"/>
              <a:t> to develop new insights and ideas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Awareness of how algorithms related to </a:t>
            </a:r>
            <a:r>
              <a:rPr b="1" lang="en"/>
              <a:t>scientific research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Don’t worry if this seems too much, you only need GCSE level mathematics to get started!</a:t>
            </a:r>
            <a:endParaRPr/>
          </a:p>
        </p:txBody>
      </p:sp>
      <p:sp>
        <p:nvSpPr>
          <p:cNvPr id="463" name="Google Shape;463;p5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6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56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r>
              <a:rPr lang="en"/>
              <a:t> for implementing algorithms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7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475" name="Google Shape;475;p57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</p:txBody>
      </p:sp>
      <p:sp>
        <p:nvSpPr>
          <p:cNvPr id="476" name="Google Shape;476;p57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482" name="Google Shape;482;p5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programming skills: C++, Python, Java</a:t>
            </a:r>
            <a:endParaRPr/>
          </a:p>
        </p:txBody>
      </p:sp>
      <p:sp>
        <p:nvSpPr>
          <p:cNvPr id="483" name="Google Shape;483;p5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489" name="Google Shape;489;p5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programming skills: C++, Python, Java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translate ideas into correct code</a:t>
            </a:r>
            <a:endParaRPr/>
          </a:p>
        </p:txBody>
      </p:sp>
      <p:sp>
        <p:nvSpPr>
          <p:cNvPr id="490" name="Google Shape;490;p5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496" name="Google Shape;496;p6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programming skills: C++, Python, Java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translate ideas into correct code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Attention to detail in handling test cases</a:t>
            </a:r>
            <a:endParaRPr/>
          </a:p>
        </p:txBody>
      </p:sp>
      <p:sp>
        <p:nvSpPr>
          <p:cNvPr id="497" name="Google Shape;497;p6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503" name="Google Shape;503;p6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programming skills: C++, Python, Java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translate ideas into correct code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Attention to detail in handling test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won’t need to make the code maintainable like in software engineering. </a:t>
            </a:r>
            <a:endParaRPr/>
          </a:p>
        </p:txBody>
      </p:sp>
      <p:sp>
        <p:nvSpPr>
          <p:cNvPr id="504" name="Google Shape;504;p6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implementing algorithms</a:t>
            </a:r>
            <a:endParaRPr/>
          </a:p>
        </p:txBody>
      </p:sp>
      <p:sp>
        <p:nvSpPr>
          <p:cNvPr id="510" name="Google Shape;510;p6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Good algorithm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Strong programming skills: C++, Python, Java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Ability to translate ideas into correct code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Attention to detail in handling test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won’t need to make the code maintainable like in software engineering.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most solutions are at most a few hundred lines of codes anywhere so making your solution concise and straightforward.</a:t>
            </a:r>
            <a:endParaRPr/>
          </a:p>
        </p:txBody>
      </p:sp>
      <p:sp>
        <p:nvSpPr>
          <p:cNvPr id="511" name="Google Shape;511;p6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3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63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 Competitive Programming problem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Problem description</a:t>
            </a:r>
            <a:endParaRPr/>
          </a:p>
        </p:txBody>
      </p:sp>
      <p:sp>
        <p:nvSpPr>
          <p:cNvPr id="523" name="Google Shape;523;p6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4" name="Google Shape;5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700" y="972825"/>
            <a:ext cx="6156600" cy="34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64"/>
          <p:cNvSpPr txBox="1"/>
          <p:nvPr/>
        </p:nvSpPr>
        <p:spPr>
          <a:xfrm>
            <a:off x="457200" y="46840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https://codeforces.com/problemset/problem/231/A</a:t>
            </a: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Input and Output</a:t>
            </a:r>
            <a:endParaRPr/>
          </a:p>
        </p:txBody>
      </p:sp>
      <p:sp>
        <p:nvSpPr>
          <p:cNvPr id="531" name="Google Shape;531;p6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2" name="Google Shape;5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200" y="1066750"/>
            <a:ext cx="6127600" cy="34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5"/>
          <p:cNvSpPr txBox="1"/>
          <p:nvPr/>
        </p:nvSpPr>
        <p:spPr>
          <a:xfrm>
            <a:off x="457200" y="46840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https://codeforces.com/problemset/problem/231/A</a:t>
            </a: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6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Problem notes</a:t>
            </a:r>
            <a:endParaRPr/>
          </a:p>
        </p:txBody>
      </p:sp>
      <p:sp>
        <p:nvSpPr>
          <p:cNvPr id="539" name="Google Shape;539;p66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0" name="Google Shape;54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25" y="1898075"/>
            <a:ext cx="8010525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6"/>
          <p:cNvSpPr txBox="1"/>
          <p:nvPr/>
        </p:nvSpPr>
        <p:spPr>
          <a:xfrm>
            <a:off x="457200" y="46840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https://codeforces.com/problemset/problem/231/A</a:t>
            </a:r>
            <a:endParaRPr sz="1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7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67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553" name="Google Shape;553;p6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  <p:sp>
        <p:nvSpPr>
          <p:cNvPr id="554" name="Google Shape;554;p6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Sharpens your problem-solving skills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560" name="Google Shape;560;p6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  <p:sp>
        <p:nvSpPr>
          <p:cNvPr id="561" name="Google Shape;561;p6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Sharpens your problem-solving skills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Improves coding accuracy and speed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567" name="Google Shape;567;p7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  <p:sp>
        <p:nvSpPr>
          <p:cNvPr id="568" name="Google Shape;568;p7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Sharpens your problem-solving skills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Improves coding accuracy and speed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Many companies value competitive programming experience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1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574" name="Google Shape;574;p71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  <p:sp>
        <p:nvSpPr>
          <p:cNvPr id="575" name="Google Shape;575;p71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Sharpens your problem-solving skills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Improves coding accuracy and speed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Many companies value competitive programming experience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Deepens understanding of algorithms and data structures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2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4C4F69"/>
                </a:solidFill>
              </a:rPr>
              <a:t>‹#›</a:t>
            </a:fld>
            <a:endParaRPr>
              <a:solidFill>
                <a:srgbClr val="4C4F69"/>
              </a:solidFill>
            </a:endParaRPr>
          </a:p>
        </p:txBody>
      </p:sp>
      <p:sp>
        <p:nvSpPr>
          <p:cNvPr id="581" name="Google Shape;581;p72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Competitive Programming?</a:t>
            </a:r>
            <a:endParaRPr/>
          </a:p>
        </p:txBody>
      </p:sp>
      <p:sp>
        <p:nvSpPr>
          <p:cNvPr id="582" name="Google Shape;582;p72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Sharpens your problem-solving skills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Improves coding accuracy and speed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Many companies value competitive programming experience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Deepens understanding of algorithms and data structures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It’s fun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3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3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nice problems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4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74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Some nice problems</a:t>
            </a:r>
            <a:endParaRPr/>
          </a:p>
        </p:txBody>
      </p:sp>
      <p:sp>
        <p:nvSpPr>
          <p:cNvPr id="595" name="Google Shape;595;p74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tinyurl.com/kcpcws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5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75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Some nice problems</a:t>
            </a:r>
            <a:endParaRPr/>
          </a:p>
        </p:txBody>
      </p:sp>
      <p:sp>
        <p:nvSpPr>
          <p:cNvPr id="602" name="Google Shape;602;p75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tinyurl.com/kcpcws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kcpc.orthant.co.uk/r/0b464d30-8c8a-4ebe-8270-7c0d868c83c1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6"/>
          <p:cNvSpPr txBox="1"/>
          <p:nvPr>
            <p:ph idx="12" type="sldNum"/>
          </p:nvPr>
        </p:nvSpPr>
        <p:spPr>
          <a:xfrm>
            <a:off x="8686825" y="468625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76"/>
          <p:cNvSpPr txBox="1"/>
          <p:nvPr>
            <p:ph type="title"/>
          </p:nvPr>
        </p:nvSpPr>
        <p:spPr>
          <a:xfrm>
            <a:off x="457200" y="457200"/>
            <a:ext cx="8229600" cy="42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7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  <p:sp>
        <p:nvSpPr>
          <p:cNvPr id="614" name="Google Shape;614;p77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easy today?</a:t>
            </a:r>
            <a:r>
              <a:rPr lang="en"/>
              <a:t> Harder challenges are coming</a:t>
            </a:r>
            <a:endParaRPr b="1"/>
          </a:p>
        </p:txBody>
      </p:sp>
      <p:sp>
        <p:nvSpPr>
          <p:cNvPr id="615" name="Google Shape;615;p77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8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  <p:sp>
        <p:nvSpPr>
          <p:cNvPr id="621" name="Google Shape;621;p78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easy today?</a:t>
            </a:r>
            <a:r>
              <a:rPr lang="en"/>
              <a:t> Harder challenges are coming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hard today?</a:t>
            </a:r>
            <a:r>
              <a:rPr lang="en"/>
              <a:t> That means you’re learning and that's great!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22" name="Google Shape;622;p78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9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  <p:sp>
        <p:nvSpPr>
          <p:cNvPr id="628" name="Google Shape;628;p79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easy today?</a:t>
            </a:r>
            <a:r>
              <a:rPr lang="en"/>
              <a:t> Harder challenges are coming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hard today?</a:t>
            </a:r>
            <a:r>
              <a:rPr lang="en"/>
              <a:t> That means you’re learning and that's great!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Either way, </a:t>
            </a:r>
            <a:r>
              <a:rPr b="1" lang="en"/>
              <a:t>you belong here</a:t>
            </a:r>
            <a:r>
              <a:rPr lang="en"/>
              <a:t>: Our goal is simple: </a:t>
            </a:r>
            <a:r>
              <a:rPr b="1" lang="en"/>
              <a:t>be better than yesterday</a:t>
            </a:r>
            <a:endParaRPr b="1"/>
          </a:p>
        </p:txBody>
      </p:sp>
      <p:sp>
        <p:nvSpPr>
          <p:cNvPr id="629" name="Google Shape;629;p79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0"/>
          <p:cNvSpPr txBox="1"/>
          <p:nvPr>
            <p:ph idx="1" type="subTitle"/>
          </p:nvPr>
        </p:nvSpPr>
        <p:spPr>
          <a:xfrm>
            <a:off x="457200" y="457200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messages</a:t>
            </a:r>
            <a:endParaRPr/>
          </a:p>
        </p:txBody>
      </p:sp>
      <p:sp>
        <p:nvSpPr>
          <p:cNvPr id="635" name="Google Shape;635;p80"/>
          <p:cNvSpPr txBox="1"/>
          <p:nvPr>
            <p:ph idx="2" type="body"/>
          </p:nvPr>
        </p:nvSpPr>
        <p:spPr>
          <a:xfrm>
            <a:off x="457200" y="914400"/>
            <a:ext cx="82296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easy today?</a:t>
            </a:r>
            <a:r>
              <a:rPr lang="en"/>
              <a:t> Harder challenges are coming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b="1" lang="en"/>
              <a:t>Too hard today?</a:t>
            </a:r>
            <a:r>
              <a:rPr lang="en"/>
              <a:t> That means you’re learning and that's great!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Either way, </a:t>
            </a:r>
            <a:r>
              <a:rPr b="1" lang="en"/>
              <a:t>you belong here</a:t>
            </a:r>
            <a:r>
              <a:rPr lang="en"/>
              <a:t>: Our goal is simple: </a:t>
            </a:r>
            <a:r>
              <a:rPr b="1" lang="en"/>
              <a:t>be better than yesterday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→"/>
            </a:pPr>
            <a:r>
              <a:rPr lang="en"/>
              <a:t>See you </a:t>
            </a:r>
            <a:r>
              <a:rPr b="1" lang="en"/>
              <a:t>next week</a:t>
            </a:r>
            <a:r>
              <a:rPr lang="en"/>
              <a:t> at the </a:t>
            </a:r>
            <a:r>
              <a:rPr b="1" lang="en"/>
              <a:t>same time!</a:t>
            </a:r>
            <a:endParaRPr b="1"/>
          </a:p>
        </p:txBody>
      </p:sp>
      <p:sp>
        <p:nvSpPr>
          <p:cNvPr id="636" name="Google Shape;636;p80"/>
          <p:cNvSpPr txBox="1"/>
          <p:nvPr>
            <p:ph idx="12" type="sldNum"/>
          </p:nvPr>
        </p:nvSpPr>
        <p:spPr>
          <a:xfrm>
            <a:off x="8686800" y="4686300"/>
            <a:ext cx="45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