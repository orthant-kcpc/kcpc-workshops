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embeddedFontLst>
    <p:embeddedFont>
      <p:font typeface="Inter"/>
      <p:regular r:id="rId44"/>
      <p:bold r:id="rId45"/>
      <p:italic r:id="rId46"/>
      <p:boldItalic r:id="rId47"/>
    </p:embeddedFont>
    <p:embeddedFont>
      <p:font typeface="DM Sans"/>
      <p:regular r:id="rId48"/>
      <p:bold r:id="rId49"/>
      <p:italic r:id="rId50"/>
      <p:boldItalic r:id="rId51"/>
    </p:embeddedFont>
    <p:embeddedFont>
      <p:font typeface="DM Mono"/>
      <p:regular r:id="rId52"/>
      <p: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Inter-regular.fntdata"/><Relationship Id="rId43" Type="http://schemas.openxmlformats.org/officeDocument/2006/relationships/slide" Target="slides/slide38.xml"/><Relationship Id="rId46" Type="http://schemas.openxmlformats.org/officeDocument/2006/relationships/font" Target="fonts/Inter-italic.fntdata"/><Relationship Id="rId45" Type="http://schemas.openxmlformats.org/officeDocument/2006/relationships/font" Target="fonts/Inter-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DMSans-regular.fntdata"/><Relationship Id="rId47" Type="http://schemas.openxmlformats.org/officeDocument/2006/relationships/font" Target="fonts/Inter-boldItalic.fntdata"/><Relationship Id="rId49" Type="http://schemas.openxmlformats.org/officeDocument/2006/relationships/font" Target="fonts/DMSans-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DMSans-boldItalic.fntdata"/><Relationship Id="rId50" Type="http://schemas.openxmlformats.org/officeDocument/2006/relationships/font" Target="fonts/DMSans-italic.fntdata"/><Relationship Id="rId53" Type="http://schemas.openxmlformats.org/officeDocument/2006/relationships/font" Target="fonts/DMMono-italic.fntdata"/><Relationship Id="rId52" Type="http://schemas.openxmlformats.org/officeDocument/2006/relationships/font" Target="fonts/DMMono-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b7e118ceb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b7e118ceb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b7e118ceb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b7e118ceb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b7eebc3b3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b7eebc3b3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b9882ac448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b9882ac448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c21dd3624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c21dd3624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c21dd36241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c21dd36241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b9882ac448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b9882ac448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b9882ac448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b9882ac448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en"/>
              <a:t>This is easy and fun to do. </a:t>
            </a:r>
            <a:r>
              <a:rPr lang="en">
                <a:solidFill>
                  <a:schemeClr val="dk1"/>
                </a:solidFill>
              </a:rPr>
              <a:t>The great Carl Gauss, widely regarded as one of the greatest mathematicians in history, was a big fan of this method. In one investigation, he painstakingly computed the number of integer solutions to 𝑥</a:t>
            </a:r>
            <a:r>
              <a:rPr baseline="30000" lang="en">
                <a:solidFill>
                  <a:schemeClr val="dk1"/>
                </a:solidFill>
              </a:rPr>
              <a:t>2</a:t>
            </a:r>
            <a:r>
              <a:rPr lang="en">
                <a:solidFill>
                  <a:schemeClr val="dk1"/>
                </a:solidFill>
              </a:rPr>
              <a:t> +𝑦</a:t>
            </a:r>
            <a:r>
              <a:rPr baseline="30000" lang="en">
                <a:solidFill>
                  <a:schemeClr val="dk1"/>
                </a:solidFill>
              </a:rPr>
              <a:t>2</a:t>
            </a:r>
            <a:r>
              <a:rPr lang="en">
                <a:solidFill>
                  <a:schemeClr val="dk1"/>
                </a:solidFill>
              </a:rPr>
              <a:t> ≤ 90,000.</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bded296595_1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bded296595_1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chemeClr val="dk1"/>
                </a:solidFill>
              </a:rPr>
              <a:t>Problems and problem solving are at the heart of mathematics. Research mathematicians do nothing but open-ended problem solving. In industry, being able to solve a poorly defined problem is much more important to an employer than being able to, say, invert a matrix. A computer can do the latter, but not the former. Same with competitive programming, we want to find a “way” to solve these problems, and the computer will do the hard work for us as long as we instruct properly what the computer has to do.</a:t>
            </a:r>
            <a:endParaRPr>
              <a:solidFill>
                <a:schemeClr val="dk1"/>
              </a:solidFill>
            </a:endParaRPr>
          </a:p>
          <a:p>
            <a:pPr indent="0" lvl="0" marL="0" rtl="0" algn="l">
              <a:lnSpc>
                <a:spcPct val="115000"/>
              </a:lnSpc>
              <a:spcBef>
                <a:spcPts val="1200"/>
              </a:spcBef>
              <a:spcAft>
                <a:spcPts val="1200"/>
              </a:spcAft>
              <a:buNone/>
            </a:pPr>
            <a:r>
              <a:rPr lang="en">
                <a:solidFill>
                  <a:schemeClr val="dk1"/>
                </a:solidFill>
              </a:rPr>
              <a:t>An analogy: The average (non-problem-solver) math student is like someone who goes to a gym three times a week to do lots of repetitions with low weights on various exercise machines. In contrast, the problem solver goes on a long, hard backpacking trip. Both people get stronger. The problem solver gets hot, cold, wet, tired, and hungry. The problem solver gets lost, and has to find his or her way. The problem solver gets blisters. The problem solver climbs to the top of mountains, sees hitherto undreamed of vistas. The problem solver arrives at places of amazing beauty, and experiences ecstasy that is amplified by the eﬀort expended to get there. When the problem solver returns home, he or she is energized by the adventure, and cannot stop gushing about the wonderful experience. Meanwhile, the gym rat has gotten steadily stronger, but has not had much fun, and has little to share with others.</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b7f5421164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b7f5421164_0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b81420c74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b81420c74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Eﬀective problem solvers stand out from the crowd. Their brains seem to work diﬀerently. They are tougher, yet also more sensitive and flexible. Few people possess these laudable attributes, but it is easy to begin acquiring them.</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bded296595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bded296595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 good problem solver doesn’t give up. However, she doesn’t just stupidly keep banging her head against a wall (or cage!), but instead </a:t>
            </a:r>
            <a:r>
              <a:rPr i="1" lang="en">
                <a:solidFill>
                  <a:schemeClr val="dk1"/>
                </a:solidFill>
              </a:rPr>
              <a:t>varies each attempt</a:t>
            </a:r>
            <a:r>
              <a:rPr lang="en">
                <a:solidFill>
                  <a:schemeClr val="dk1"/>
                </a:solidFill>
              </a:rPr>
              <a:t>. But this is too simplistic. If people </a:t>
            </a:r>
            <a:r>
              <a:rPr i="1" lang="en">
                <a:solidFill>
                  <a:schemeClr val="dk1"/>
                </a:solidFill>
              </a:rPr>
              <a:t>never</a:t>
            </a:r>
            <a:r>
              <a:rPr lang="en">
                <a:solidFill>
                  <a:schemeClr val="dk1"/>
                </a:solidFill>
              </a:rPr>
              <a:t> gave up on problems, the world would be a very strange and unpleasant place. Sometimes you just cannot solve a problem. You will have to give up, at least temporarily. All good problem solvers occasionally admit defeat. An important part of the problem solver’s art is knowing when to give up.</a:t>
            </a:r>
            <a:br>
              <a:rPr lang="en"/>
            </a:br>
            <a:br>
              <a:rPr lang="en"/>
            </a:br>
            <a:r>
              <a:rPr lang="en"/>
              <a:t>But most beginners give up too soon, because they lack the </a:t>
            </a:r>
            <a:r>
              <a:rPr i="1" lang="en"/>
              <a:t>mental toughness</a:t>
            </a:r>
            <a:r>
              <a:rPr lang="en"/>
              <a:t> attributes of </a:t>
            </a:r>
            <a:r>
              <a:rPr i="1" lang="en"/>
              <a:t>confidence</a:t>
            </a:r>
            <a:r>
              <a:rPr lang="en"/>
              <a:t> and </a:t>
            </a:r>
            <a:r>
              <a:rPr i="1" lang="en"/>
              <a:t>concentration</a:t>
            </a:r>
            <a:r>
              <a:rPr lang="en"/>
              <a:t>. It is hard to work on a problem if you don’t believe that you can solve it, and it is impossible to keep working past your “frustration threshold.” The novice must improve her mental toughness in tandem with her mathematical skills in order to make significant progress.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bded296595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bded296595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will become more creative: Part of this process comes from cultivating a confident attitude, so that when you see a beautiful solution, you no longer think, “I could</a:t>
            </a:r>
            <a:endParaRPr/>
          </a:p>
          <a:p>
            <a:pPr indent="0" lvl="0" marL="0" rtl="0" algn="l">
              <a:spcBef>
                <a:spcPts val="0"/>
              </a:spcBef>
              <a:spcAft>
                <a:spcPts val="0"/>
              </a:spcAft>
              <a:buNone/>
            </a:pPr>
            <a:r>
              <a:rPr lang="en"/>
              <a:t>never have thought of that,” but instead think, “Nice idea! It’s similar to ones I’ve had. Let’s put it to work!”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One way to heighten your receptiveness to new ideas is to stay “loose,” to cultivate a sort of mental </a:t>
            </a:r>
            <a:r>
              <a:rPr i="1" lang="en"/>
              <a:t>peripheral vision</a:t>
            </a:r>
            <a:r>
              <a:rPr lang="en"/>
              <a:t>. The receptor cells in the human retina are most densely packed near the center, but the most sensitive receptors are located on the periphery. This means that on a bright day, whatever you gaze at you can see very well. However, if it is dark, you will not be able to see things that you gaze at directly, but you will perceive, albeit fuzzily, objects on the periphery of your visual field. Likewise, when you begin a problem solving investigation, you are “in the dark.” Gazing directly at things won’t help. You need to relax your vision and get ideas from the periphery. Constantly be on the lookout for twists and turns and tricks. Don’t get locked into one method. Try to consciously break or bend the rules.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bf9f9e57d4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bf9f9e57d4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bf9f9e57d4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bf9f9e57d4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b7f5421164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b7f5421164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bded296595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bded296595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too are very simple ideas, easy and often fun to apply. They may not help you to </a:t>
            </a:r>
            <a:r>
              <a:rPr i="1" lang="en"/>
              <a:t>solve</a:t>
            </a:r>
            <a:r>
              <a:rPr lang="en"/>
              <a:t> many problems at first, but they will enable you to make encouraging </a:t>
            </a:r>
            <a:r>
              <a:rPr i="1" lang="en"/>
              <a:t>progress</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solution to every problem involves two parts: the </a:t>
            </a:r>
            <a:r>
              <a:rPr i="1" lang="en"/>
              <a:t>investigation</a:t>
            </a:r>
            <a:r>
              <a:rPr lang="en"/>
              <a:t>, during which you discover what is going on, and the </a:t>
            </a:r>
            <a:r>
              <a:rPr i="1" lang="en"/>
              <a:t>argument</a:t>
            </a:r>
            <a:r>
              <a:rPr lang="en"/>
              <a:t>, in which you convince others of your discoveries.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b81420c743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b81420c743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Wishful thinking/make it easier: These strategies combine psychology and mathematics to help break initial impasses in your work. Ask yourself, “What is it about the problem that makes it hard?” Then, make the diﬃculty disappear! You may not be able to do this </a:t>
            </a:r>
            <a:r>
              <a:rPr i="1" lang="en"/>
              <a:t>legally</a:t>
            </a:r>
            <a:r>
              <a:rPr lang="en"/>
              <a:t>, but who cares? Temporarily avoiding the hard part of a problem will allow you to make progress and may shed light on the diﬃculties. For example, if the problem involves big, ugly numbers, make them small and pretty. If a problem involves complicated algebraic fractions or radicals, try looking at a similar problem without such terms. At best, pretending that the diﬃculty isn’t there will lead to a bold solution. At worst, you will be forced to focus on the key diﬃculty of your problem, and possibly formulate an intermediate question, whose answer will help you with the problem at hand. And eliminating the hard part of a problem, even temporarily, will allow you to have some fun and raise your confidence. If you cannot solve the problem as written, at least you can make progress with its easier cousin!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bded296595_1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bded296595_1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bf9f9e57d4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bf9f9e57d4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bded296595_1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bded296595_1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idea behind induction is simple. If I have a very contagious cold, and I sneeze then the person to my right will catch the cold; then she will sneeze, and the person to her right will catch it; and then he will sneeze, etc. Eventually everyone (to my right) will catch the cold.</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bded296595_1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bded296595_1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bded296595_1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3bded296595_1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bded296595_1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bded296595_1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Often, just translating something into pictorial form does wonders, like again the ants on a ruler problem.</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Some of the most spectacular advances in mathematics occur when someone discovers a new reformulation. For example, Descartes’ idea of recasting geometric questions in a numeric/algebraic form led to the development of analytic geometry, which then led to calculus.</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bf9f9e57d4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bf9f9e57d4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bf9f9e57d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bf9f9e57d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bf9f9e57d4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bf9f9e57d4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bded296595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bded296595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Symmetry: A square is symmetric with respect to reflection about a diagonal. The reflection is one of the several symmetries of the square. Other symmetries include rotation clockwise by 90 degrees and reflection about a line joining the midpoints of two opposite sides. A circle has infinitely many symmetries, for example, rotation clockwise by 𝛼degrees for any 𝛼.</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bf9f9e57d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bf9f9e57d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bf9f9e57d4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bf9f9e57d4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bded296595_1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bded296595_1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bf9f9e57d4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bf9f9e57d4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b7f5421164_0_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b7f5421164_0_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b7f5421164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b7f5421164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bf9f9e57d4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bf9f9e57d4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bf9f9e57d4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3bf9f9e57d4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b7f5421164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b7f5421164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b7f5421164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b7f5421164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457200" y="457200"/>
            <a:ext cx="8229600" cy="2800800"/>
          </a:xfrm>
          <a:prstGeom prst="rect">
            <a:avLst/>
          </a:prstGeom>
          <a:ln cap="flat" cmpd="sng" w="9525">
            <a:solidFill>
              <a:srgbClr val="000000"/>
            </a:solidFill>
            <a:prstDash val="solid"/>
            <a:round/>
            <a:headEnd len="sm" w="sm" type="none"/>
            <a:tailEnd len="sm" w="sm" type="none"/>
          </a:ln>
        </p:spPr>
        <p:txBody>
          <a:bodyPr anchorCtr="0" anchor="ctr" bIns="91425" lIns="91425" spcFirstLastPara="1" rIns="91425" wrap="square" tIns="91425">
            <a:normAutofit/>
          </a:bodyPr>
          <a:lstStyle>
            <a:lvl1pPr lvl="0">
              <a:spcBef>
                <a:spcPts val="0"/>
              </a:spcBef>
              <a:spcAft>
                <a:spcPts val="0"/>
              </a:spcAft>
              <a:buClr>
                <a:srgbClr val="4C4F69"/>
              </a:buClr>
              <a:buSzPts val="4800"/>
              <a:buFont typeface="DM Mono"/>
              <a:buNone/>
              <a:defRPr sz="4800">
                <a:solidFill>
                  <a:srgbClr val="4C4F69"/>
                </a:solidFill>
                <a:latin typeface="DM Mono"/>
                <a:ea typeface="DM Mono"/>
                <a:cs typeface="DM Mono"/>
                <a:sym typeface="DM Mono"/>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457200" y="3257875"/>
            <a:ext cx="8229600" cy="1428300"/>
          </a:xfrm>
          <a:prstGeom prst="rect">
            <a:avLst/>
          </a:prstGeom>
          <a:ln cap="flat" cmpd="sng" w="9525">
            <a:solidFill>
              <a:srgbClr val="000000"/>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Clr>
                <a:srgbClr val="5C5F77"/>
              </a:buClr>
              <a:buSzPts val="2400"/>
              <a:buFont typeface="DM Sans"/>
              <a:buNone/>
              <a:defRPr sz="2400">
                <a:solidFill>
                  <a:srgbClr val="5C5F77"/>
                </a:solidFill>
                <a:latin typeface="DM Sans"/>
                <a:ea typeface="DM Sans"/>
                <a:cs typeface="DM Sans"/>
                <a:sym typeface="DM Sans"/>
              </a:defRPr>
            </a:lvl1pPr>
            <a:lvl2pPr lvl="1">
              <a:lnSpc>
                <a:spcPct val="100000"/>
              </a:lnSpc>
              <a:spcBef>
                <a:spcPts val="0"/>
              </a:spcBef>
              <a:spcAft>
                <a:spcPts val="0"/>
              </a:spcAft>
              <a:buClr>
                <a:srgbClr val="5C5F77"/>
              </a:buClr>
              <a:buSzPts val="2500"/>
              <a:buFont typeface="DM Sans"/>
              <a:buNone/>
              <a:defRPr sz="2500">
                <a:solidFill>
                  <a:srgbClr val="5C5F77"/>
                </a:solidFill>
                <a:latin typeface="DM Sans"/>
                <a:ea typeface="DM Sans"/>
                <a:cs typeface="DM Sans"/>
                <a:sym typeface="DM Sans"/>
              </a:defRPr>
            </a:lvl2pPr>
            <a:lvl3pPr lvl="2">
              <a:lnSpc>
                <a:spcPct val="100000"/>
              </a:lnSpc>
              <a:spcBef>
                <a:spcPts val="0"/>
              </a:spcBef>
              <a:spcAft>
                <a:spcPts val="0"/>
              </a:spcAft>
              <a:buClr>
                <a:srgbClr val="5C5F77"/>
              </a:buClr>
              <a:buSzPts val="2500"/>
              <a:buFont typeface="DM Sans"/>
              <a:buNone/>
              <a:defRPr sz="2500">
                <a:solidFill>
                  <a:srgbClr val="5C5F77"/>
                </a:solidFill>
                <a:latin typeface="DM Sans"/>
                <a:ea typeface="DM Sans"/>
                <a:cs typeface="DM Sans"/>
                <a:sym typeface="DM Sans"/>
              </a:defRPr>
            </a:lvl3pPr>
            <a:lvl4pPr lvl="3">
              <a:lnSpc>
                <a:spcPct val="100000"/>
              </a:lnSpc>
              <a:spcBef>
                <a:spcPts val="0"/>
              </a:spcBef>
              <a:spcAft>
                <a:spcPts val="0"/>
              </a:spcAft>
              <a:buClr>
                <a:srgbClr val="5C5F77"/>
              </a:buClr>
              <a:buSzPts val="2500"/>
              <a:buFont typeface="DM Sans"/>
              <a:buNone/>
              <a:defRPr sz="2500">
                <a:solidFill>
                  <a:srgbClr val="5C5F77"/>
                </a:solidFill>
                <a:latin typeface="DM Sans"/>
                <a:ea typeface="DM Sans"/>
                <a:cs typeface="DM Sans"/>
                <a:sym typeface="DM Sans"/>
              </a:defRPr>
            </a:lvl4pPr>
            <a:lvl5pPr lvl="4">
              <a:lnSpc>
                <a:spcPct val="100000"/>
              </a:lnSpc>
              <a:spcBef>
                <a:spcPts val="0"/>
              </a:spcBef>
              <a:spcAft>
                <a:spcPts val="0"/>
              </a:spcAft>
              <a:buClr>
                <a:srgbClr val="5C5F77"/>
              </a:buClr>
              <a:buSzPts val="2500"/>
              <a:buFont typeface="DM Sans"/>
              <a:buNone/>
              <a:defRPr sz="2500">
                <a:solidFill>
                  <a:srgbClr val="5C5F77"/>
                </a:solidFill>
                <a:latin typeface="DM Sans"/>
                <a:ea typeface="DM Sans"/>
                <a:cs typeface="DM Sans"/>
                <a:sym typeface="DM Sans"/>
              </a:defRPr>
            </a:lvl5pPr>
            <a:lvl6pPr lvl="5">
              <a:lnSpc>
                <a:spcPct val="100000"/>
              </a:lnSpc>
              <a:spcBef>
                <a:spcPts val="0"/>
              </a:spcBef>
              <a:spcAft>
                <a:spcPts val="0"/>
              </a:spcAft>
              <a:buClr>
                <a:srgbClr val="5C5F77"/>
              </a:buClr>
              <a:buSzPts val="2500"/>
              <a:buFont typeface="DM Sans"/>
              <a:buNone/>
              <a:defRPr sz="2500">
                <a:solidFill>
                  <a:srgbClr val="5C5F77"/>
                </a:solidFill>
                <a:latin typeface="DM Sans"/>
                <a:ea typeface="DM Sans"/>
                <a:cs typeface="DM Sans"/>
                <a:sym typeface="DM Sans"/>
              </a:defRPr>
            </a:lvl6pPr>
            <a:lvl7pPr lvl="6">
              <a:lnSpc>
                <a:spcPct val="100000"/>
              </a:lnSpc>
              <a:spcBef>
                <a:spcPts val="0"/>
              </a:spcBef>
              <a:spcAft>
                <a:spcPts val="0"/>
              </a:spcAft>
              <a:buClr>
                <a:srgbClr val="5C5F77"/>
              </a:buClr>
              <a:buSzPts val="2500"/>
              <a:buFont typeface="DM Sans"/>
              <a:buNone/>
              <a:defRPr sz="2500">
                <a:solidFill>
                  <a:srgbClr val="5C5F77"/>
                </a:solidFill>
                <a:latin typeface="DM Sans"/>
                <a:ea typeface="DM Sans"/>
                <a:cs typeface="DM Sans"/>
                <a:sym typeface="DM Sans"/>
              </a:defRPr>
            </a:lvl7pPr>
            <a:lvl8pPr lvl="7">
              <a:lnSpc>
                <a:spcPct val="100000"/>
              </a:lnSpc>
              <a:spcBef>
                <a:spcPts val="0"/>
              </a:spcBef>
              <a:spcAft>
                <a:spcPts val="0"/>
              </a:spcAft>
              <a:buClr>
                <a:srgbClr val="5C5F77"/>
              </a:buClr>
              <a:buSzPts val="2500"/>
              <a:buFont typeface="DM Sans"/>
              <a:buNone/>
              <a:defRPr sz="2500">
                <a:solidFill>
                  <a:srgbClr val="5C5F77"/>
                </a:solidFill>
                <a:latin typeface="DM Sans"/>
                <a:ea typeface="DM Sans"/>
                <a:cs typeface="DM Sans"/>
                <a:sym typeface="DM Sans"/>
              </a:defRPr>
            </a:lvl8pPr>
            <a:lvl9pPr lvl="8">
              <a:lnSpc>
                <a:spcPct val="100000"/>
              </a:lnSpc>
              <a:spcBef>
                <a:spcPts val="0"/>
              </a:spcBef>
              <a:spcAft>
                <a:spcPts val="0"/>
              </a:spcAft>
              <a:buClr>
                <a:srgbClr val="5C5F77"/>
              </a:buClr>
              <a:buSzPts val="2500"/>
              <a:buFont typeface="DM Sans"/>
              <a:buNone/>
              <a:defRPr sz="2500">
                <a:solidFill>
                  <a:srgbClr val="5C5F77"/>
                </a:solidFill>
                <a:latin typeface="DM Sans"/>
                <a:ea typeface="DM Sans"/>
                <a:cs typeface="DM Sans"/>
                <a:sym typeface="DM Sans"/>
              </a:defRPr>
            </a:lvl9pPr>
          </a:lstStyle>
          <a:p/>
        </p:txBody>
      </p:sp>
      <p:sp>
        <p:nvSpPr>
          <p:cNvPr id="12" name="Google Shape;12;p2"/>
          <p:cNvSpPr/>
          <p:nvPr/>
        </p:nvSpPr>
        <p:spPr>
          <a:xfrm>
            <a:off x="0" y="0"/>
            <a:ext cx="4572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3" name="Google Shape;13;p2"/>
          <p:cNvSpPr/>
          <p:nvPr/>
        </p:nvSpPr>
        <p:spPr>
          <a:xfrm>
            <a:off x="457200" y="0"/>
            <a:ext cx="82296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4" name="Google Shape;14;p2"/>
          <p:cNvSpPr/>
          <p:nvPr/>
        </p:nvSpPr>
        <p:spPr>
          <a:xfrm>
            <a:off x="8686800" y="0"/>
            <a:ext cx="4572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5" name="Google Shape;15;p2"/>
          <p:cNvSpPr/>
          <p:nvPr/>
        </p:nvSpPr>
        <p:spPr>
          <a:xfrm>
            <a:off x="0" y="4686300"/>
            <a:ext cx="4572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6" name="Google Shape;16;p2"/>
          <p:cNvSpPr/>
          <p:nvPr/>
        </p:nvSpPr>
        <p:spPr>
          <a:xfrm>
            <a:off x="457200" y="4686300"/>
            <a:ext cx="82296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7" name="Google Shape;17;p2"/>
          <p:cNvSpPr/>
          <p:nvPr/>
        </p:nvSpPr>
        <p:spPr>
          <a:xfrm>
            <a:off x="0" y="457200"/>
            <a:ext cx="457200" cy="42291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8" name="Google Shape;18;p2"/>
          <p:cNvSpPr/>
          <p:nvPr/>
        </p:nvSpPr>
        <p:spPr>
          <a:xfrm>
            <a:off x="8686800" y="457200"/>
            <a:ext cx="457200" cy="42291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9" name="Google Shape;19;p2"/>
          <p:cNvSpPr/>
          <p:nvPr/>
        </p:nvSpPr>
        <p:spPr>
          <a:xfrm>
            <a:off x="8686800" y="4686300"/>
            <a:ext cx="457200" cy="457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0" name="Google Shape;20;p2"/>
          <p:cNvSpPr txBox="1"/>
          <p:nvPr>
            <p:ph idx="12" type="sldNum"/>
          </p:nvPr>
        </p:nvSpPr>
        <p:spPr>
          <a:xfrm>
            <a:off x="8686847" y="4686425"/>
            <a:ext cx="457200" cy="457200"/>
          </a:xfrm>
          <a:prstGeom prst="rect">
            <a:avLst/>
          </a:prstGeom>
          <a:noFill/>
        </p:spPr>
        <p:txBody>
          <a:bodyPr anchorCtr="0" anchor="ctr" bIns="91425" lIns="91425" spcFirstLastPara="1" rIns="91425" wrap="square" tIns="91425">
            <a:normAutofit/>
          </a:bodyPr>
          <a:lstStyle>
            <a:lvl1pPr lvl="0" algn="ctr">
              <a:buNone/>
              <a:defRPr sz="1300">
                <a:latin typeface="DM Sans"/>
                <a:ea typeface="DM Sans"/>
                <a:cs typeface="DM Sans"/>
                <a:sym typeface="DM Sans"/>
              </a:defRPr>
            </a:lvl1pPr>
            <a:lvl2pPr lvl="1" algn="ctr">
              <a:buNone/>
              <a:defRPr sz="1300">
                <a:latin typeface="DM Sans"/>
                <a:ea typeface="DM Sans"/>
                <a:cs typeface="DM Sans"/>
                <a:sym typeface="DM Sans"/>
              </a:defRPr>
            </a:lvl2pPr>
            <a:lvl3pPr lvl="2" algn="ctr">
              <a:buNone/>
              <a:defRPr sz="1300">
                <a:latin typeface="DM Sans"/>
                <a:ea typeface="DM Sans"/>
                <a:cs typeface="DM Sans"/>
                <a:sym typeface="DM Sans"/>
              </a:defRPr>
            </a:lvl3pPr>
            <a:lvl4pPr lvl="3" algn="ctr">
              <a:buNone/>
              <a:defRPr sz="1300">
                <a:latin typeface="DM Sans"/>
                <a:ea typeface="DM Sans"/>
                <a:cs typeface="DM Sans"/>
                <a:sym typeface="DM Sans"/>
              </a:defRPr>
            </a:lvl4pPr>
            <a:lvl5pPr lvl="4" algn="ctr">
              <a:buNone/>
              <a:defRPr sz="1300">
                <a:latin typeface="DM Sans"/>
                <a:ea typeface="DM Sans"/>
                <a:cs typeface="DM Sans"/>
                <a:sym typeface="DM Sans"/>
              </a:defRPr>
            </a:lvl5pPr>
            <a:lvl6pPr lvl="5" algn="ctr">
              <a:buNone/>
              <a:defRPr sz="1300">
                <a:latin typeface="DM Sans"/>
                <a:ea typeface="DM Sans"/>
                <a:cs typeface="DM Sans"/>
                <a:sym typeface="DM Sans"/>
              </a:defRPr>
            </a:lvl6pPr>
            <a:lvl7pPr lvl="6" algn="ctr">
              <a:buNone/>
              <a:defRPr sz="1300">
                <a:latin typeface="DM Sans"/>
                <a:ea typeface="DM Sans"/>
                <a:cs typeface="DM Sans"/>
                <a:sym typeface="DM Sans"/>
              </a:defRPr>
            </a:lvl7pPr>
            <a:lvl8pPr lvl="7" algn="ctr">
              <a:buNone/>
              <a:defRPr sz="1300">
                <a:latin typeface="DM Sans"/>
                <a:ea typeface="DM Sans"/>
                <a:cs typeface="DM Sans"/>
                <a:sym typeface="DM Sans"/>
              </a:defRPr>
            </a:lvl8pPr>
            <a:lvl9pPr lvl="8" algn="ctr">
              <a:buNone/>
              <a:defRPr sz="1300">
                <a:latin typeface="DM Sans"/>
                <a:ea typeface="DM Sans"/>
                <a:cs typeface="DM Sans"/>
                <a:sym typeface="DM Sans"/>
              </a:defRPr>
            </a:lvl9pPr>
          </a:lstStyle>
          <a:p>
            <a:pPr indent="0" lvl="0" marL="0" rtl="0" algn="ctr">
              <a:spcBef>
                <a:spcPts val="0"/>
              </a:spcBef>
              <a:spcAft>
                <a:spcPts val="0"/>
              </a:spcAft>
              <a:buNone/>
            </a:pPr>
            <a:fld id="{00000000-1234-1234-1234-123412341234}" type="slidenum">
              <a:rPr lang="en"/>
              <a:t>‹#›</a:t>
            </a:fld>
            <a:endParaRPr/>
          </a:p>
        </p:txBody>
      </p:sp>
      <p:sp>
        <p:nvSpPr>
          <p:cNvPr id="21" name="Google Shape;21;p2"/>
          <p:cNvSpPr/>
          <p:nvPr/>
        </p:nvSpPr>
        <p:spPr>
          <a:xfrm>
            <a:off x="7772400" y="0"/>
            <a:ext cx="914400" cy="457200"/>
          </a:xfrm>
          <a:prstGeom prst="rect">
            <a:avLst/>
          </a:prstGeom>
          <a:solidFill>
            <a:srgbClr val="EFF1F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4C4F69"/>
                </a:solidFill>
                <a:latin typeface="DM Sans"/>
                <a:ea typeface="DM Sans"/>
                <a:cs typeface="DM Sans"/>
                <a:sym typeface="DM Sans"/>
              </a:rPr>
              <a:t>KCPC</a:t>
            </a:r>
            <a:endParaRPr sz="1600">
              <a:solidFill>
                <a:srgbClr val="4C4F69"/>
              </a:solidFill>
              <a:latin typeface="DM Sans"/>
              <a:ea typeface="DM Sans"/>
              <a:cs typeface="DM Sans"/>
              <a:sym typeface="DM Sans"/>
            </a:endParaRPr>
          </a:p>
        </p:txBody>
      </p:sp>
      <p:sp>
        <p:nvSpPr>
          <p:cNvPr id="22" name="Google Shape;22;p2"/>
          <p:cNvSpPr txBox="1"/>
          <p:nvPr/>
        </p:nvSpPr>
        <p:spPr>
          <a:xfrm>
            <a:off x="457200" y="4686300"/>
            <a:ext cx="28140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5C5F77"/>
                </a:solidFill>
                <a:latin typeface="DM Mono"/>
                <a:ea typeface="DM Mono"/>
                <a:cs typeface="DM Mono"/>
                <a:sym typeface="DM Mono"/>
              </a:rPr>
              <a:t>kcpc.orthant.co.uk</a:t>
            </a:r>
            <a:endParaRPr sz="1700">
              <a:solidFill>
                <a:srgbClr val="5C5F77"/>
              </a:solidFill>
              <a:latin typeface="DM Mono"/>
              <a:ea typeface="DM Mono"/>
              <a:cs typeface="DM Mono"/>
              <a:sym typeface="DM Mon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list">
  <p:cSld name="TITLE_1">
    <p:spTree>
      <p:nvGrpSpPr>
        <p:cNvPr id="23" name="Shape 23"/>
        <p:cNvGrpSpPr/>
        <p:nvPr/>
      </p:nvGrpSpPr>
      <p:grpSpPr>
        <a:xfrm>
          <a:off x="0" y="0"/>
          <a:ext cx="0" cy="0"/>
          <a:chOff x="0" y="0"/>
          <a:chExt cx="0" cy="0"/>
        </a:xfrm>
      </p:grpSpPr>
      <p:sp>
        <p:nvSpPr>
          <p:cNvPr id="24" name="Google Shape;24;p3"/>
          <p:cNvSpPr/>
          <p:nvPr/>
        </p:nvSpPr>
        <p:spPr>
          <a:xfrm>
            <a:off x="0" y="0"/>
            <a:ext cx="4572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5" name="Google Shape;25;p3"/>
          <p:cNvSpPr/>
          <p:nvPr/>
        </p:nvSpPr>
        <p:spPr>
          <a:xfrm>
            <a:off x="457200" y="0"/>
            <a:ext cx="82296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6" name="Google Shape;26;p3"/>
          <p:cNvSpPr/>
          <p:nvPr/>
        </p:nvSpPr>
        <p:spPr>
          <a:xfrm>
            <a:off x="8686800" y="0"/>
            <a:ext cx="4572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7" name="Google Shape;27;p3"/>
          <p:cNvSpPr/>
          <p:nvPr/>
        </p:nvSpPr>
        <p:spPr>
          <a:xfrm>
            <a:off x="0" y="4686300"/>
            <a:ext cx="4572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8" name="Google Shape;28;p3"/>
          <p:cNvSpPr/>
          <p:nvPr/>
        </p:nvSpPr>
        <p:spPr>
          <a:xfrm>
            <a:off x="457200" y="4686300"/>
            <a:ext cx="82296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29" name="Google Shape;29;p3"/>
          <p:cNvSpPr/>
          <p:nvPr/>
        </p:nvSpPr>
        <p:spPr>
          <a:xfrm>
            <a:off x="8686800" y="4686300"/>
            <a:ext cx="457200" cy="457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sp>
        <p:nvSpPr>
          <p:cNvPr id="30" name="Google Shape;30;p3"/>
          <p:cNvSpPr/>
          <p:nvPr/>
        </p:nvSpPr>
        <p:spPr>
          <a:xfrm>
            <a:off x="0" y="457200"/>
            <a:ext cx="457200" cy="42291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1" name="Google Shape;31;p3"/>
          <p:cNvSpPr/>
          <p:nvPr/>
        </p:nvSpPr>
        <p:spPr>
          <a:xfrm>
            <a:off x="8686800" y="457200"/>
            <a:ext cx="457200" cy="42291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32" name="Google Shape;32;p3"/>
          <p:cNvSpPr/>
          <p:nvPr/>
        </p:nvSpPr>
        <p:spPr>
          <a:xfrm>
            <a:off x="457200" y="1486263"/>
            <a:ext cx="82296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sp>
        <p:nvSpPr>
          <p:cNvPr id="33" name="Google Shape;33;p3"/>
          <p:cNvSpPr/>
          <p:nvPr/>
        </p:nvSpPr>
        <p:spPr>
          <a:xfrm>
            <a:off x="0" y="1486375"/>
            <a:ext cx="4572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grpSp>
        <p:nvGrpSpPr>
          <p:cNvPr id="34" name="Google Shape;34;p3"/>
          <p:cNvGrpSpPr/>
          <p:nvPr/>
        </p:nvGrpSpPr>
        <p:grpSpPr>
          <a:xfrm rot="5400000">
            <a:off x="91440" y="1577802"/>
            <a:ext cx="274315" cy="274332"/>
            <a:chOff x="96076" y="654376"/>
            <a:chExt cx="369896" cy="333900"/>
          </a:xfrm>
        </p:grpSpPr>
        <p:cxnSp>
          <p:nvCxnSpPr>
            <p:cNvPr id="35" name="Google Shape;35;p3"/>
            <p:cNvCxnSpPr/>
            <p:nvPr/>
          </p:nvCxnSpPr>
          <p:spPr>
            <a:xfrm rot="5400000">
              <a:off x="113975" y="821326"/>
              <a:ext cx="333900" cy="0"/>
            </a:xfrm>
            <a:prstGeom prst="straightConnector1">
              <a:avLst/>
            </a:prstGeom>
            <a:noFill/>
            <a:ln cap="flat" cmpd="sng" w="19050">
              <a:solidFill>
                <a:srgbClr val="4C4F69"/>
              </a:solidFill>
              <a:prstDash val="solid"/>
              <a:round/>
              <a:headEnd len="sm" w="sm" type="none"/>
              <a:tailEnd len="sm" w="sm" type="none"/>
            </a:ln>
          </p:spPr>
        </p:cxnSp>
        <p:sp>
          <p:nvSpPr>
            <p:cNvPr id="36" name="Google Shape;36;p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rgbClr val="4C4F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32C3C"/>
                </a:solidFill>
                <a:latin typeface="Inter"/>
                <a:ea typeface="Inter"/>
                <a:cs typeface="Inter"/>
                <a:sym typeface="Inter"/>
              </a:endParaRPr>
            </a:p>
          </p:txBody>
        </p:sp>
        <p:sp>
          <p:nvSpPr>
            <p:cNvPr id="37" name="Google Shape;37;p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rgbClr val="4C4F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32C3C"/>
                </a:solidFill>
                <a:latin typeface="Inter"/>
                <a:ea typeface="Inter"/>
                <a:cs typeface="Inter"/>
                <a:sym typeface="Inter"/>
              </a:endParaRPr>
            </a:p>
          </p:txBody>
        </p:sp>
      </p:grpSp>
      <p:sp>
        <p:nvSpPr>
          <p:cNvPr id="38" name="Google Shape;38;p3"/>
          <p:cNvSpPr/>
          <p:nvPr/>
        </p:nvSpPr>
        <p:spPr>
          <a:xfrm>
            <a:off x="457200" y="1943463"/>
            <a:ext cx="82296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sp>
        <p:nvSpPr>
          <p:cNvPr id="39" name="Google Shape;39;p3"/>
          <p:cNvSpPr/>
          <p:nvPr/>
        </p:nvSpPr>
        <p:spPr>
          <a:xfrm>
            <a:off x="0" y="1943575"/>
            <a:ext cx="4572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0" name="Google Shape;40;p3"/>
          <p:cNvSpPr/>
          <p:nvPr/>
        </p:nvSpPr>
        <p:spPr>
          <a:xfrm>
            <a:off x="457200" y="2400638"/>
            <a:ext cx="82296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sp>
        <p:nvSpPr>
          <p:cNvPr id="41" name="Google Shape;41;p3"/>
          <p:cNvSpPr/>
          <p:nvPr/>
        </p:nvSpPr>
        <p:spPr>
          <a:xfrm>
            <a:off x="0" y="2400750"/>
            <a:ext cx="4572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2" name="Google Shape;42;p3"/>
          <p:cNvSpPr/>
          <p:nvPr/>
        </p:nvSpPr>
        <p:spPr>
          <a:xfrm>
            <a:off x="457200" y="2857788"/>
            <a:ext cx="82296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nvGrpSpPr>
          <p:cNvPr id="43" name="Google Shape;43;p3"/>
          <p:cNvGrpSpPr/>
          <p:nvPr/>
        </p:nvGrpSpPr>
        <p:grpSpPr>
          <a:xfrm rot="5400000">
            <a:off x="91440" y="2035002"/>
            <a:ext cx="274315" cy="274332"/>
            <a:chOff x="96076" y="654376"/>
            <a:chExt cx="369896" cy="333900"/>
          </a:xfrm>
        </p:grpSpPr>
        <p:cxnSp>
          <p:nvCxnSpPr>
            <p:cNvPr id="44" name="Google Shape;44;p3"/>
            <p:cNvCxnSpPr/>
            <p:nvPr/>
          </p:nvCxnSpPr>
          <p:spPr>
            <a:xfrm rot="5400000">
              <a:off x="113975" y="821326"/>
              <a:ext cx="333900" cy="0"/>
            </a:xfrm>
            <a:prstGeom prst="straightConnector1">
              <a:avLst/>
            </a:prstGeom>
            <a:noFill/>
            <a:ln cap="flat" cmpd="sng" w="19050">
              <a:solidFill>
                <a:srgbClr val="4C4F69"/>
              </a:solidFill>
              <a:prstDash val="solid"/>
              <a:round/>
              <a:headEnd len="sm" w="sm" type="none"/>
              <a:tailEnd len="sm" w="sm" type="none"/>
            </a:ln>
          </p:spPr>
        </p:cxnSp>
        <p:sp>
          <p:nvSpPr>
            <p:cNvPr id="45" name="Google Shape;45;p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rgbClr val="4C4F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32C3C"/>
                </a:solidFill>
                <a:latin typeface="Inter"/>
                <a:ea typeface="Inter"/>
                <a:cs typeface="Inter"/>
                <a:sym typeface="Inter"/>
              </a:endParaRPr>
            </a:p>
          </p:txBody>
        </p:sp>
        <p:sp>
          <p:nvSpPr>
            <p:cNvPr id="46" name="Google Shape;46;p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rgbClr val="4C4F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32C3C"/>
                </a:solidFill>
                <a:latin typeface="Inter"/>
                <a:ea typeface="Inter"/>
                <a:cs typeface="Inter"/>
                <a:sym typeface="Inter"/>
              </a:endParaRPr>
            </a:p>
          </p:txBody>
        </p:sp>
      </p:grpSp>
      <p:sp>
        <p:nvSpPr>
          <p:cNvPr id="47" name="Google Shape;47;p3"/>
          <p:cNvSpPr/>
          <p:nvPr/>
        </p:nvSpPr>
        <p:spPr>
          <a:xfrm>
            <a:off x="0" y="2857900"/>
            <a:ext cx="4572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8" name="Google Shape;48;p3"/>
          <p:cNvSpPr/>
          <p:nvPr/>
        </p:nvSpPr>
        <p:spPr>
          <a:xfrm>
            <a:off x="457200" y="3314913"/>
            <a:ext cx="82296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nvGrpSpPr>
          <p:cNvPr id="49" name="Google Shape;49;p3"/>
          <p:cNvGrpSpPr/>
          <p:nvPr/>
        </p:nvGrpSpPr>
        <p:grpSpPr>
          <a:xfrm rot="5400000">
            <a:off x="91440" y="2492177"/>
            <a:ext cx="274315" cy="274332"/>
            <a:chOff x="96076" y="654376"/>
            <a:chExt cx="369896" cy="333900"/>
          </a:xfrm>
        </p:grpSpPr>
        <p:cxnSp>
          <p:nvCxnSpPr>
            <p:cNvPr id="50" name="Google Shape;50;p3"/>
            <p:cNvCxnSpPr/>
            <p:nvPr/>
          </p:nvCxnSpPr>
          <p:spPr>
            <a:xfrm rot="5400000">
              <a:off x="113975" y="821326"/>
              <a:ext cx="333900" cy="0"/>
            </a:xfrm>
            <a:prstGeom prst="straightConnector1">
              <a:avLst/>
            </a:prstGeom>
            <a:noFill/>
            <a:ln cap="flat" cmpd="sng" w="19050">
              <a:solidFill>
                <a:srgbClr val="4C4F69"/>
              </a:solidFill>
              <a:prstDash val="solid"/>
              <a:round/>
              <a:headEnd len="sm" w="sm" type="none"/>
              <a:tailEnd len="sm" w="sm" type="none"/>
            </a:ln>
          </p:spPr>
        </p:cxnSp>
        <p:sp>
          <p:nvSpPr>
            <p:cNvPr id="51" name="Google Shape;51;p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rgbClr val="4C4F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32C3C"/>
                </a:solidFill>
                <a:latin typeface="Inter"/>
                <a:ea typeface="Inter"/>
                <a:cs typeface="Inter"/>
                <a:sym typeface="Inter"/>
              </a:endParaRPr>
            </a:p>
          </p:txBody>
        </p:sp>
        <p:sp>
          <p:nvSpPr>
            <p:cNvPr id="52" name="Google Shape;52;p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rgbClr val="4C4F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32C3C"/>
                </a:solidFill>
                <a:latin typeface="Inter"/>
                <a:ea typeface="Inter"/>
                <a:cs typeface="Inter"/>
                <a:sym typeface="Inter"/>
              </a:endParaRPr>
            </a:p>
          </p:txBody>
        </p:sp>
      </p:grpSp>
      <p:sp>
        <p:nvSpPr>
          <p:cNvPr id="53" name="Google Shape;53;p3"/>
          <p:cNvSpPr/>
          <p:nvPr/>
        </p:nvSpPr>
        <p:spPr>
          <a:xfrm>
            <a:off x="0" y="3315025"/>
            <a:ext cx="4572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54" name="Google Shape;54;p3"/>
          <p:cNvSpPr/>
          <p:nvPr/>
        </p:nvSpPr>
        <p:spPr>
          <a:xfrm>
            <a:off x="457200" y="3772013"/>
            <a:ext cx="82296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nvGrpSpPr>
          <p:cNvPr id="55" name="Google Shape;55;p3"/>
          <p:cNvGrpSpPr/>
          <p:nvPr/>
        </p:nvGrpSpPr>
        <p:grpSpPr>
          <a:xfrm rot="5400000">
            <a:off x="91440" y="2949327"/>
            <a:ext cx="274315" cy="274332"/>
            <a:chOff x="96076" y="654376"/>
            <a:chExt cx="369896" cy="333900"/>
          </a:xfrm>
        </p:grpSpPr>
        <p:cxnSp>
          <p:nvCxnSpPr>
            <p:cNvPr id="56" name="Google Shape;56;p3"/>
            <p:cNvCxnSpPr/>
            <p:nvPr/>
          </p:nvCxnSpPr>
          <p:spPr>
            <a:xfrm rot="5400000">
              <a:off x="113975" y="821326"/>
              <a:ext cx="333900" cy="0"/>
            </a:xfrm>
            <a:prstGeom prst="straightConnector1">
              <a:avLst/>
            </a:prstGeom>
            <a:noFill/>
            <a:ln cap="flat" cmpd="sng" w="19050">
              <a:solidFill>
                <a:srgbClr val="4C4F69"/>
              </a:solidFill>
              <a:prstDash val="solid"/>
              <a:round/>
              <a:headEnd len="sm" w="sm" type="none"/>
              <a:tailEnd len="sm" w="sm" type="none"/>
            </a:ln>
          </p:spPr>
        </p:cxnSp>
        <p:sp>
          <p:nvSpPr>
            <p:cNvPr id="57" name="Google Shape;57;p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rgbClr val="4C4F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32C3C"/>
                </a:solidFill>
                <a:latin typeface="Inter"/>
                <a:ea typeface="Inter"/>
                <a:cs typeface="Inter"/>
                <a:sym typeface="Inter"/>
              </a:endParaRPr>
            </a:p>
          </p:txBody>
        </p:sp>
        <p:sp>
          <p:nvSpPr>
            <p:cNvPr id="58" name="Google Shape;58;p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rgbClr val="4C4F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32C3C"/>
                </a:solidFill>
                <a:latin typeface="Inter"/>
                <a:ea typeface="Inter"/>
                <a:cs typeface="Inter"/>
                <a:sym typeface="Inter"/>
              </a:endParaRPr>
            </a:p>
          </p:txBody>
        </p:sp>
      </p:grpSp>
      <p:sp>
        <p:nvSpPr>
          <p:cNvPr id="59" name="Google Shape;59;p3"/>
          <p:cNvSpPr/>
          <p:nvPr/>
        </p:nvSpPr>
        <p:spPr>
          <a:xfrm>
            <a:off x="0" y="3772125"/>
            <a:ext cx="4572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60" name="Google Shape;60;p3"/>
          <p:cNvSpPr/>
          <p:nvPr/>
        </p:nvSpPr>
        <p:spPr>
          <a:xfrm>
            <a:off x="457200" y="4229088"/>
            <a:ext cx="82296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grpSp>
        <p:nvGrpSpPr>
          <p:cNvPr id="61" name="Google Shape;61;p3"/>
          <p:cNvGrpSpPr/>
          <p:nvPr/>
        </p:nvGrpSpPr>
        <p:grpSpPr>
          <a:xfrm rot="5400000">
            <a:off x="91440" y="3406452"/>
            <a:ext cx="274315" cy="274332"/>
            <a:chOff x="96076" y="654376"/>
            <a:chExt cx="369896" cy="333900"/>
          </a:xfrm>
        </p:grpSpPr>
        <p:cxnSp>
          <p:nvCxnSpPr>
            <p:cNvPr id="62" name="Google Shape;62;p3"/>
            <p:cNvCxnSpPr/>
            <p:nvPr/>
          </p:nvCxnSpPr>
          <p:spPr>
            <a:xfrm rot="5400000">
              <a:off x="113975" y="821326"/>
              <a:ext cx="333900" cy="0"/>
            </a:xfrm>
            <a:prstGeom prst="straightConnector1">
              <a:avLst/>
            </a:prstGeom>
            <a:noFill/>
            <a:ln cap="flat" cmpd="sng" w="19050">
              <a:solidFill>
                <a:srgbClr val="4C4F69"/>
              </a:solidFill>
              <a:prstDash val="solid"/>
              <a:round/>
              <a:headEnd len="sm" w="sm" type="none"/>
              <a:tailEnd len="sm" w="sm" type="none"/>
            </a:ln>
          </p:spPr>
        </p:cxnSp>
        <p:sp>
          <p:nvSpPr>
            <p:cNvPr id="63" name="Google Shape;63;p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rgbClr val="4C4F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32C3C"/>
                </a:solidFill>
                <a:latin typeface="Inter"/>
                <a:ea typeface="Inter"/>
                <a:cs typeface="Inter"/>
                <a:sym typeface="Inter"/>
              </a:endParaRPr>
            </a:p>
          </p:txBody>
        </p:sp>
        <p:sp>
          <p:nvSpPr>
            <p:cNvPr id="64" name="Google Shape;64;p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rgbClr val="4C4F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32C3C"/>
                </a:solidFill>
                <a:latin typeface="Inter"/>
                <a:ea typeface="Inter"/>
                <a:cs typeface="Inter"/>
                <a:sym typeface="Inter"/>
              </a:endParaRPr>
            </a:p>
          </p:txBody>
        </p:sp>
      </p:grpSp>
      <p:sp>
        <p:nvSpPr>
          <p:cNvPr id="65" name="Google Shape;65;p3"/>
          <p:cNvSpPr/>
          <p:nvPr/>
        </p:nvSpPr>
        <p:spPr>
          <a:xfrm>
            <a:off x="0" y="4229200"/>
            <a:ext cx="4572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66" name="Google Shape;66;p3"/>
          <p:cNvSpPr txBox="1"/>
          <p:nvPr>
            <p:ph idx="1" type="subTitle"/>
          </p:nvPr>
        </p:nvSpPr>
        <p:spPr>
          <a:xfrm>
            <a:off x="457200" y="1486250"/>
            <a:ext cx="8229600" cy="457200"/>
          </a:xfrm>
          <a:prstGeom prst="rect">
            <a:avLst/>
          </a:prstGeom>
        </p:spPr>
        <p:txBody>
          <a:bodyPr anchorCtr="0" anchor="ctr" bIns="91425" lIns="91425" spcFirstLastPara="1" rIns="91425" wrap="square" tIns="91425">
            <a:normAutofit/>
          </a:bodyPr>
          <a:lstStyle>
            <a:lvl1pPr lvl="0">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1pPr>
            <a:lvl2pPr lvl="1">
              <a:lnSpc>
                <a:spcPct val="100000"/>
              </a:lnSpc>
              <a:spcBef>
                <a:spcPts val="0"/>
              </a:spcBef>
              <a:spcAft>
                <a:spcPts val="0"/>
              </a:spcAft>
              <a:buClr>
                <a:srgbClr val="5C5F77"/>
              </a:buClr>
              <a:buSzPts val="2500"/>
              <a:buFont typeface="DM Sans"/>
              <a:buNone/>
              <a:defRPr sz="2500">
                <a:solidFill>
                  <a:srgbClr val="5C5F77"/>
                </a:solidFill>
                <a:latin typeface="DM Sans"/>
                <a:ea typeface="DM Sans"/>
                <a:cs typeface="DM Sans"/>
                <a:sym typeface="DM Sans"/>
              </a:defRPr>
            </a:lvl2pPr>
            <a:lvl3pPr lvl="2">
              <a:lnSpc>
                <a:spcPct val="100000"/>
              </a:lnSpc>
              <a:spcBef>
                <a:spcPts val="0"/>
              </a:spcBef>
              <a:spcAft>
                <a:spcPts val="0"/>
              </a:spcAft>
              <a:buClr>
                <a:srgbClr val="5C5F77"/>
              </a:buClr>
              <a:buSzPts val="2500"/>
              <a:buFont typeface="DM Sans"/>
              <a:buNone/>
              <a:defRPr sz="2500">
                <a:solidFill>
                  <a:srgbClr val="5C5F77"/>
                </a:solidFill>
                <a:latin typeface="DM Sans"/>
                <a:ea typeface="DM Sans"/>
                <a:cs typeface="DM Sans"/>
                <a:sym typeface="DM Sans"/>
              </a:defRPr>
            </a:lvl3pPr>
            <a:lvl4pPr lvl="3">
              <a:lnSpc>
                <a:spcPct val="100000"/>
              </a:lnSpc>
              <a:spcBef>
                <a:spcPts val="0"/>
              </a:spcBef>
              <a:spcAft>
                <a:spcPts val="0"/>
              </a:spcAft>
              <a:buClr>
                <a:srgbClr val="5C5F77"/>
              </a:buClr>
              <a:buSzPts val="2500"/>
              <a:buFont typeface="DM Sans"/>
              <a:buNone/>
              <a:defRPr sz="2500">
                <a:solidFill>
                  <a:srgbClr val="5C5F77"/>
                </a:solidFill>
                <a:latin typeface="DM Sans"/>
                <a:ea typeface="DM Sans"/>
                <a:cs typeface="DM Sans"/>
                <a:sym typeface="DM Sans"/>
              </a:defRPr>
            </a:lvl4pPr>
            <a:lvl5pPr lvl="4">
              <a:lnSpc>
                <a:spcPct val="100000"/>
              </a:lnSpc>
              <a:spcBef>
                <a:spcPts val="0"/>
              </a:spcBef>
              <a:spcAft>
                <a:spcPts val="0"/>
              </a:spcAft>
              <a:buClr>
                <a:srgbClr val="5C5F77"/>
              </a:buClr>
              <a:buSzPts val="2500"/>
              <a:buFont typeface="DM Sans"/>
              <a:buNone/>
              <a:defRPr sz="2500">
                <a:solidFill>
                  <a:srgbClr val="5C5F77"/>
                </a:solidFill>
                <a:latin typeface="DM Sans"/>
                <a:ea typeface="DM Sans"/>
                <a:cs typeface="DM Sans"/>
                <a:sym typeface="DM Sans"/>
              </a:defRPr>
            </a:lvl5pPr>
            <a:lvl6pPr lvl="5">
              <a:lnSpc>
                <a:spcPct val="100000"/>
              </a:lnSpc>
              <a:spcBef>
                <a:spcPts val="0"/>
              </a:spcBef>
              <a:spcAft>
                <a:spcPts val="0"/>
              </a:spcAft>
              <a:buClr>
                <a:srgbClr val="5C5F77"/>
              </a:buClr>
              <a:buSzPts val="2500"/>
              <a:buFont typeface="DM Sans"/>
              <a:buNone/>
              <a:defRPr sz="2500">
                <a:solidFill>
                  <a:srgbClr val="5C5F77"/>
                </a:solidFill>
                <a:latin typeface="DM Sans"/>
                <a:ea typeface="DM Sans"/>
                <a:cs typeface="DM Sans"/>
                <a:sym typeface="DM Sans"/>
              </a:defRPr>
            </a:lvl6pPr>
            <a:lvl7pPr lvl="6">
              <a:lnSpc>
                <a:spcPct val="100000"/>
              </a:lnSpc>
              <a:spcBef>
                <a:spcPts val="0"/>
              </a:spcBef>
              <a:spcAft>
                <a:spcPts val="0"/>
              </a:spcAft>
              <a:buClr>
                <a:srgbClr val="5C5F77"/>
              </a:buClr>
              <a:buSzPts val="2500"/>
              <a:buFont typeface="DM Sans"/>
              <a:buNone/>
              <a:defRPr sz="2500">
                <a:solidFill>
                  <a:srgbClr val="5C5F77"/>
                </a:solidFill>
                <a:latin typeface="DM Sans"/>
                <a:ea typeface="DM Sans"/>
                <a:cs typeface="DM Sans"/>
                <a:sym typeface="DM Sans"/>
              </a:defRPr>
            </a:lvl7pPr>
            <a:lvl8pPr lvl="7">
              <a:lnSpc>
                <a:spcPct val="100000"/>
              </a:lnSpc>
              <a:spcBef>
                <a:spcPts val="0"/>
              </a:spcBef>
              <a:spcAft>
                <a:spcPts val="0"/>
              </a:spcAft>
              <a:buClr>
                <a:srgbClr val="5C5F77"/>
              </a:buClr>
              <a:buSzPts val="2500"/>
              <a:buFont typeface="DM Sans"/>
              <a:buNone/>
              <a:defRPr sz="2500">
                <a:solidFill>
                  <a:srgbClr val="5C5F77"/>
                </a:solidFill>
                <a:latin typeface="DM Sans"/>
                <a:ea typeface="DM Sans"/>
                <a:cs typeface="DM Sans"/>
                <a:sym typeface="DM Sans"/>
              </a:defRPr>
            </a:lvl8pPr>
            <a:lvl9pPr lvl="8">
              <a:lnSpc>
                <a:spcPct val="100000"/>
              </a:lnSpc>
              <a:spcBef>
                <a:spcPts val="0"/>
              </a:spcBef>
              <a:spcAft>
                <a:spcPts val="0"/>
              </a:spcAft>
              <a:buClr>
                <a:srgbClr val="5C5F77"/>
              </a:buClr>
              <a:buSzPts val="2500"/>
              <a:buFont typeface="DM Sans"/>
              <a:buNone/>
              <a:defRPr sz="2500">
                <a:solidFill>
                  <a:srgbClr val="5C5F77"/>
                </a:solidFill>
                <a:latin typeface="DM Sans"/>
                <a:ea typeface="DM Sans"/>
                <a:cs typeface="DM Sans"/>
                <a:sym typeface="DM Sans"/>
              </a:defRPr>
            </a:lvl9pPr>
          </a:lstStyle>
          <a:p/>
        </p:txBody>
      </p:sp>
      <p:grpSp>
        <p:nvGrpSpPr>
          <p:cNvPr id="67" name="Google Shape;67;p3"/>
          <p:cNvGrpSpPr/>
          <p:nvPr/>
        </p:nvGrpSpPr>
        <p:grpSpPr>
          <a:xfrm rot="5400000">
            <a:off x="91440" y="3863552"/>
            <a:ext cx="274315" cy="274332"/>
            <a:chOff x="96076" y="654376"/>
            <a:chExt cx="369896" cy="333900"/>
          </a:xfrm>
        </p:grpSpPr>
        <p:cxnSp>
          <p:nvCxnSpPr>
            <p:cNvPr id="68" name="Google Shape;68;p3"/>
            <p:cNvCxnSpPr/>
            <p:nvPr/>
          </p:nvCxnSpPr>
          <p:spPr>
            <a:xfrm rot="5400000">
              <a:off x="113975" y="821326"/>
              <a:ext cx="333900" cy="0"/>
            </a:xfrm>
            <a:prstGeom prst="straightConnector1">
              <a:avLst/>
            </a:prstGeom>
            <a:noFill/>
            <a:ln cap="flat" cmpd="sng" w="19050">
              <a:solidFill>
                <a:srgbClr val="4C4F69"/>
              </a:solidFill>
              <a:prstDash val="solid"/>
              <a:round/>
              <a:headEnd len="sm" w="sm" type="none"/>
              <a:tailEnd len="sm" w="sm" type="none"/>
            </a:ln>
          </p:spPr>
        </p:cxnSp>
        <p:sp>
          <p:nvSpPr>
            <p:cNvPr id="69" name="Google Shape;69;p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rgbClr val="4C4F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32C3C"/>
                </a:solidFill>
                <a:latin typeface="Inter"/>
                <a:ea typeface="Inter"/>
                <a:cs typeface="Inter"/>
                <a:sym typeface="Inter"/>
              </a:endParaRPr>
            </a:p>
          </p:txBody>
        </p:sp>
        <p:sp>
          <p:nvSpPr>
            <p:cNvPr id="70" name="Google Shape;70;p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rgbClr val="4C4F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32C3C"/>
                </a:solidFill>
                <a:latin typeface="Inter"/>
                <a:ea typeface="Inter"/>
                <a:cs typeface="Inter"/>
                <a:sym typeface="Inter"/>
              </a:endParaRPr>
            </a:p>
          </p:txBody>
        </p:sp>
      </p:grpSp>
      <p:sp>
        <p:nvSpPr>
          <p:cNvPr id="71" name="Google Shape;71;p3"/>
          <p:cNvSpPr txBox="1"/>
          <p:nvPr>
            <p:ph idx="2" type="subTitle"/>
          </p:nvPr>
        </p:nvSpPr>
        <p:spPr>
          <a:xfrm>
            <a:off x="457200" y="1943425"/>
            <a:ext cx="8229600" cy="457200"/>
          </a:xfrm>
          <a:prstGeom prst="rect">
            <a:avLst/>
          </a:prstGeom>
        </p:spPr>
        <p:txBody>
          <a:bodyPr anchorCtr="0" anchor="ctr" bIns="91425" lIns="91425" spcFirstLastPara="1" rIns="91425" wrap="square" tIns="91425">
            <a:normAutofit/>
          </a:bodyPr>
          <a:lstStyle>
            <a:lvl1pPr lvl="0">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1pPr>
            <a:lvl2pPr lvl="1">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2pPr>
            <a:lvl3pPr lvl="2">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3pPr>
            <a:lvl4pPr lvl="3">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4pPr>
            <a:lvl5pPr lvl="4">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5pPr>
            <a:lvl6pPr lvl="5">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6pPr>
            <a:lvl7pPr lvl="6">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7pPr>
            <a:lvl8pPr lvl="7">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8pPr>
            <a:lvl9pPr lvl="8">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9pPr>
          </a:lstStyle>
          <a:p/>
        </p:txBody>
      </p:sp>
      <p:sp>
        <p:nvSpPr>
          <p:cNvPr id="72" name="Google Shape;72;p3"/>
          <p:cNvSpPr txBox="1"/>
          <p:nvPr>
            <p:ph idx="3" type="subTitle"/>
          </p:nvPr>
        </p:nvSpPr>
        <p:spPr>
          <a:xfrm>
            <a:off x="457200" y="2857750"/>
            <a:ext cx="8229600" cy="457200"/>
          </a:xfrm>
          <a:prstGeom prst="rect">
            <a:avLst/>
          </a:prstGeom>
        </p:spPr>
        <p:txBody>
          <a:bodyPr anchorCtr="0" anchor="ctr" bIns="91425" lIns="91425" spcFirstLastPara="1" rIns="91425" wrap="square" tIns="91425">
            <a:normAutofit/>
          </a:bodyPr>
          <a:lstStyle>
            <a:lvl1pPr lvl="0">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1pPr>
            <a:lvl2pPr lvl="1">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2pPr>
            <a:lvl3pPr lvl="2">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3pPr>
            <a:lvl4pPr lvl="3">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4pPr>
            <a:lvl5pPr lvl="4">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5pPr>
            <a:lvl6pPr lvl="5">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6pPr>
            <a:lvl7pPr lvl="6">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7pPr>
            <a:lvl8pPr lvl="7">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8pPr>
            <a:lvl9pPr lvl="8">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9pPr>
          </a:lstStyle>
          <a:p/>
        </p:txBody>
      </p:sp>
      <p:grpSp>
        <p:nvGrpSpPr>
          <p:cNvPr id="73" name="Google Shape;73;p3"/>
          <p:cNvGrpSpPr/>
          <p:nvPr/>
        </p:nvGrpSpPr>
        <p:grpSpPr>
          <a:xfrm rot="5400000">
            <a:off x="91440" y="4320627"/>
            <a:ext cx="274315" cy="274332"/>
            <a:chOff x="96076" y="654376"/>
            <a:chExt cx="369896" cy="333900"/>
          </a:xfrm>
        </p:grpSpPr>
        <p:cxnSp>
          <p:nvCxnSpPr>
            <p:cNvPr id="74" name="Google Shape;74;p3"/>
            <p:cNvCxnSpPr/>
            <p:nvPr/>
          </p:nvCxnSpPr>
          <p:spPr>
            <a:xfrm rot="5400000">
              <a:off x="113975" y="821326"/>
              <a:ext cx="333900" cy="0"/>
            </a:xfrm>
            <a:prstGeom prst="straightConnector1">
              <a:avLst/>
            </a:prstGeom>
            <a:noFill/>
            <a:ln cap="flat" cmpd="sng" w="19050">
              <a:solidFill>
                <a:srgbClr val="4C4F69"/>
              </a:solidFill>
              <a:prstDash val="solid"/>
              <a:round/>
              <a:headEnd len="sm" w="sm" type="none"/>
              <a:tailEnd len="sm" w="sm" type="none"/>
            </a:ln>
          </p:spPr>
        </p:cxnSp>
        <p:sp>
          <p:nvSpPr>
            <p:cNvPr id="75" name="Google Shape;75;p3"/>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rgbClr val="4C4F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32C3C"/>
                </a:solidFill>
                <a:latin typeface="Inter"/>
                <a:ea typeface="Inter"/>
                <a:cs typeface="Inter"/>
                <a:sym typeface="Inter"/>
              </a:endParaRPr>
            </a:p>
          </p:txBody>
        </p:sp>
        <p:sp>
          <p:nvSpPr>
            <p:cNvPr id="76" name="Google Shape;76;p3"/>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rgbClr val="4C4F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32C3C"/>
                </a:solidFill>
                <a:latin typeface="Inter"/>
                <a:ea typeface="Inter"/>
                <a:cs typeface="Inter"/>
                <a:sym typeface="Inter"/>
              </a:endParaRPr>
            </a:p>
          </p:txBody>
        </p:sp>
      </p:grpSp>
      <p:sp>
        <p:nvSpPr>
          <p:cNvPr id="77" name="Google Shape;77;p3"/>
          <p:cNvSpPr txBox="1"/>
          <p:nvPr>
            <p:ph idx="4" type="subTitle"/>
          </p:nvPr>
        </p:nvSpPr>
        <p:spPr>
          <a:xfrm>
            <a:off x="457200" y="2400700"/>
            <a:ext cx="8229600" cy="457200"/>
          </a:xfrm>
          <a:prstGeom prst="rect">
            <a:avLst/>
          </a:prstGeom>
        </p:spPr>
        <p:txBody>
          <a:bodyPr anchorCtr="0" anchor="ctr" bIns="91425" lIns="91425" spcFirstLastPara="1" rIns="91425" wrap="square" tIns="91425">
            <a:normAutofit/>
          </a:bodyPr>
          <a:lstStyle>
            <a:lvl1pPr lvl="0">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1pPr>
            <a:lvl2pPr lvl="1">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2pPr>
            <a:lvl3pPr lvl="2">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3pPr>
            <a:lvl4pPr lvl="3">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4pPr>
            <a:lvl5pPr lvl="4">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5pPr>
            <a:lvl6pPr lvl="5">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6pPr>
            <a:lvl7pPr lvl="6">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7pPr>
            <a:lvl8pPr lvl="7">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8pPr>
            <a:lvl9pPr lvl="8">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9pPr>
          </a:lstStyle>
          <a:p/>
        </p:txBody>
      </p:sp>
      <p:sp>
        <p:nvSpPr>
          <p:cNvPr id="78" name="Google Shape;78;p3"/>
          <p:cNvSpPr txBox="1"/>
          <p:nvPr>
            <p:ph idx="5" type="subTitle"/>
          </p:nvPr>
        </p:nvSpPr>
        <p:spPr>
          <a:xfrm>
            <a:off x="457200" y="3314875"/>
            <a:ext cx="8229600" cy="457200"/>
          </a:xfrm>
          <a:prstGeom prst="rect">
            <a:avLst/>
          </a:prstGeom>
        </p:spPr>
        <p:txBody>
          <a:bodyPr anchorCtr="0" anchor="ctr" bIns="91425" lIns="91425" spcFirstLastPara="1" rIns="91425" wrap="square" tIns="91425">
            <a:normAutofit/>
          </a:bodyPr>
          <a:lstStyle>
            <a:lvl1pPr lvl="0">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1pPr>
            <a:lvl2pPr lvl="1">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2pPr>
            <a:lvl3pPr lvl="2">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3pPr>
            <a:lvl4pPr lvl="3">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4pPr>
            <a:lvl5pPr lvl="4">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5pPr>
            <a:lvl6pPr lvl="5">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6pPr>
            <a:lvl7pPr lvl="6">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7pPr>
            <a:lvl8pPr lvl="7">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8pPr>
            <a:lvl9pPr lvl="8">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9pPr>
          </a:lstStyle>
          <a:p/>
        </p:txBody>
      </p:sp>
      <p:sp>
        <p:nvSpPr>
          <p:cNvPr id="79" name="Google Shape;79;p3"/>
          <p:cNvSpPr txBox="1"/>
          <p:nvPr>
            <p:ph idx="6" type="subTitle"/>
          </p:nvPr>
        </p:nvSpPr>
        <p:spPr>
          <a:xfrm>
            <a:off x="457200" y="3772050"/>
            <a:ext cx="8229600" cy="457200"/>
          </a:xfrm>
          <a:prstGeom prst="rect">
            <a:avLst/>
          </a:prstGeom>
        </p:spPr>
        <p:txBody>
          <a:bodyPr anchorCtr="0" anchor="ctr" bIns="91425" lIns="91425" spcFirstLastPara="1" rIns="91425" wrap="square" tIns="91425">
            <a:normAutofit/>
          </a:bodyPr>
          <a:lstStyle>
            <a:lvl1pPr lvl="0">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1pPr>
            <a:lvl2pPr lvl="1">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2pPr>
            <a:lvl3pPr lvl="2">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3pPr>
            <a:lvl4pPr lvl="3">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4pPr>
            <a:lvl5pPr lvl="4">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5pPr>
            <a:lvl6pPr lvl="5">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6pPr>
            <a:lvl7pPr lvl="6">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7pPr>
            <a:lvl8pPr lvl="7">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8pPr>
            <a:lvl9pPr lvl="8">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9pPr>
          </a:lstStyle>
          <a:p/>
        </p:txBody>
      </p:sp>
      <p:sp>
        <p:nvSpPr>
          <p:cNvPr id="80" name="Google Shape;80;p3"/>
          <p:cNvSpPr txBox="1"/>
          <p:nvPr>
            <p:ph idx="7" type="subTitle"/>
          </p:nvPr>
        </p:nvSpPr>
        <p:spPr>
          <a:xfrm>
            <a:off x="457200" y="4229150"/>
            <a:ext cx="8229600" cy="457200"/>
          </a:xfrm>
          <a:prstGeom prst="rect">
            <a:avLst/>
          </a:prstGeom>
        </p:spPr>
        <p:txBody>
          <a:bodyPr anchorCtr="0" anchor="ctr" bIns="91425" lIns="91425" spcFirstLastPara="1" rIns="91425" wrap="square" tIns="91425">
            <a:normAutofit/>
          </a:bodyPr>
          <a:lstStyle>
            <a:lvl1pPr lvl="0">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1pPr>
            <a:lvl2pPr lvl="1">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2pPr>
            <a:lvl3pPr lvl="2">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3pPr>
            <a:lvl4pPr lvl="3">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4pPr>
            <a:lvl5pPr lvl="4">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5pPr>
            <a:lvl6pPr lvl="5">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6pPr>
            <a:lvl7pPr lvl="6">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7pPr>
            <a:lvl8pPr lvl="7">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8pPr>
            <a:lvl9pPr lvl="8">
              <a:lnSpc>
                <a:spcPct val="100000"/>
              </a:lnSpc>
              <a:spcBef>
                <a:spcPts val="0"/>
              </a:spcBef>
              <a:spcAft>
                <a:spcPts val="0"/>
              </a:spcAft>
              <a:buClr>
                <a:srgbClr val="5C5F77"/>
              </a:buClr>
              <a:buSzPts val="2000"/>
              <a:buFont typeface="DM Sans"/>
              <a:buNone/>
              <a:defRPr sz="2000">
                <a:solidFill>
                  <a:srgbClr val="5C5F77"/>
                </a:solidFill>
                <a:latin typeface="DM Sans"/>
                <a:ea typeface="DM Sans"/>
                <a:cs typeface="DM Sans"/>
                <a:sym typeface="DM Sans"/>
              </a:defRPr>
            </a:lvl9pPr>
          </a:lstStyle>
          <a:p/>
        </p:txBody>
      </p:sp>
      <p:sp>
        <p:nvSpPr>
          <p:cNvPr id="81" name="Google Shape;81;p3"/>
          <p:cNvSpPr txBox="1"/>
          <p:nvPr>
            <p:ph idx="12" type="sldNum"/>
          </p:nvPr>
        </p:nvSpPr>
        <p:spPr>
          <a:xfrm>
            <a:off x="8686800" y="4686400"/>
            <a:ext cx="457200" cy="457200"/>
          </a:xfrm>
          <a:prstGeom prst="rect">
            <a:avLst/>
          </a:prstGeom>
          <a:noFill/>
        </p:spPr>
        <p:txBody>
          <a:bodyPr anchorCtr="0" anchor="ctr" bIns="91425" lIns="91425" spcFirstLastPara="1" rIns="91425" wrap="square" tIns="91425">
            <a:normAutofit/>
          </a:bodyPr>
          <a:lstStyle>
            <a:lvl1pPr lvl="0" algn="ctr">
              <a:buNone/>
              <a:defRPr sz="1300">
                <a:solidFill>
                  <a:srgbClr val="4C4F69"/>
                </a:solidFill>
                <a:latin typeface="DM Sans"/>
                <a:ea typeface="DM Sans"/>
                <a:cs typeface="DM Sans"/>
                <a:sym typeface="DM Sans"/>
              </a:defRPr>
            </a:lvl1pPr>
            <a:lvl2pPr lvl="1" algn="ctr">
              <a:buNone/>
              <a:defRPr sz="1300">
                <a:solidFill>
                  <a:srgbClr val="4C4F69"/>
                </a:solidFill>
                <a:latin typeface="DM Sans"/>
                <a:ea typeface="DM Sans"/>
                <a:cs typeface="DM Sans"/>
                <a:sym typeface="DM Sans"/>
              </a:defRPr>
            </a:lvl2pPr>
            <a:lvl3pPr lvl="2" algn="ctr">
              <a:buNone/>
              <a:defRPr sz="1300">
                <a:solidFill>
                  <a:srgbClr val="4C4F69"/>
                </a:solidFill>
                <a:latin typeface="DM Sans"/>
                <a:ea typeface="DM Sans"/>
                <a:cs typeface="DM Sans"/>
                <a:sym typeface="DM Sans"/>
              </a:defRPr>
            </a:lvl3pPr>
            <a:lvl4pPr lvl="3" algn="ctr">
              <a:buNone/>
              <a:defRPr sz="1300">
                <a:solidFill>
                  <a:srgbClr val="4C4F69"/>
                </a:solidFill>
                <a:latin typeface="DM Sans"/>
                <a:ea typeface="DM Sans"/>
                <a:cs typeface="DM Sans"/>
                <a:sym typeface="DM Sans"/>
              </a:defRPr>
            </a:lvl4pPr>
            <a:lvl5pPr lvl="4" algn="ctr">
              <a:buNone/>
              <a:defRPr sz="1300">
                <a:solidFill>
                  <a:srgbClr val="4C4F69"/>
                </a:solidFill>
                <a:latin typeface="DM Sans"/>
                <a:ea typeface="DM Sans"/>
                <a:cs typeface="DM Sans"/>
                <a:sym typeface="DM Sans"/>
              </a:defRPr>
            </a:lvl5pPr>
            <a:lvl6pPr lvl="5" algn="ctr">
              <a:buNone/>
              <a:defRPr sz="1300">
                <a:solidFill>
                  <a:srgbClr val="4C4F69"/>
                </a:solidFill>
                <a:latin typeface="DM Sans"/>
                <a:ea typeface="DM Sans"/>
                <a:cs typeface="DM Sans"/>
                <a:sym typeface="DM Sans"/>
              </a:defRPr>
            </a:lvl6pPr>
            <a:lvl7pPr lvl="6" algn="ctr">
              <a:buNone/>
              <a:defRPr sz="1300">
                <a:solidFill>
                  <a:srgbClr val="4C4F69"/>
                </a:solidFill>
                <a:latin typeface="DM Sans"/>
                <a:ea typeface="DM Sans"/>
                <a:cs typeface="DM Sans"/>
                <a:sym typeface="DM Sans"/>
              </a:defRPr>
            </a:lvl7pPr>
            <a:lvl8pPr lvl="7" algn="ctr">
              <a:buNone/>
              <a:defRPr sz="1300">
                <a:solidFill>
                  <a:srgbClr val="4C4F69"/>
                </a:solidFill>
                <a:latin typeface="DM Sans"/>
                <a:ea typeface="DM Sans"/>
                <a:cs typeface="DM Sans"/>
                <a:sym typeface="DM Sans"/>
              </a:defRPr>
            </a:lvl8pPr>
            <a:lvl9pPr lvl="8" algn="ctr">
              <a:buNone/>
              <a:defRPr sz="1300">
                <a:solidFill>
                  <a:srgbClr val="4C4F69"/>
                </a:solidFill>
                <a:latin typeface="DM Sans"/>
                <a:ea typeface="DM Sans"/>
                <a:cs typeface="DM Sans"/>
                <a:sym typeface="DM Sans"/>
              </a:defRPr>
            </a:lvl9pPr>
          </a:lstStyle>
          <a:p>
            <a:pPr indent="0" lvl="0" marL="0" rtl="0" algn="ctr">
              <a:spcBef>
                <a:spcPts val="0"/>
              </a:spcBef>
              <a:spcAft>
                <a:spcPts val="0"/>
              </a:spcAft>
              <a:buNone/>
            </a:pPr>
            <a:fld id="{00000000-1234-1234-1234-123412341234}" type="slidenum">
              <a:rPr lang="en"/>
              <a:t>‹#›</a:t>
            </a:fld>
            <a:endParaRPr/>
          </a:p>
        </p:txBody>
      </p:sp>
      <p:sp>
        <p:nvSpPr>
          <p:cNvPr id="82" name="Google Shape;82;p3"/>
          <p:cNvSpPr txBox="1"/>
          <p:nvPr>
            <p:ph type="title"/>
          </p:nvPr>
        </p:nvSpPr>
        <p:spPr>
          <a:xfrm>
            <a:off x="457200" y="457200"/>
            <a:ext cx="8229600" cy="1029000"/>
          </a:xfrm>
          <a:prstGeom prst="rect">
            <a:avLst/>
          </a:prstGeom>
        </p:spPr>
        <p:txBody>
          <a:bodyPr anchorCtr="0" anchor="ctr" bIns="91425" lIns="91425" spcFirstLastPara="1" rIns="91425" wrap="square" tIns="91425">
            <a:normAutofit/>
          </a:bodyPr>
          <a:lstStyle>
            <a:lvl1pPr lvl="0">
              <a:spcBef>
                <a:spcPts val="0"/>
              </a:spcBef>
              <a:spcAft>
                <a:spcPts val="0"/>
              </a:spcAft>
              <a:buClr>
                <a:srgbClr val="4C4F69"/>
              </a:buClr>
              <a:buSzPts val="2400"/>
              <a:buNone/>
              <a:defRPr sz="2400">
                <a:solidFill>
                  <a:srgbClr val="4C4F69"/>
                </a:solidFill>
              </a:defRPr>
            </a:lvl1pPr>
            <a:lvl2pPr lvl="1">
              <a:spcBef>
                <a:spcPts val="0"/>
              </a:spcBef>
              <a:spcAft>
                <a:spcPts val="0"/>
              </a:spcAft>
              <a:buClr>
                <a:srgbClr val="4C4F69"/>
              </a:buClr>
              <a:buSzPts val="2800"/>
              <a:buNone/>
              <a:defRPr>
                <a:solidFill>
                  <a:srgbClr val="4C4F69"/>
                </a:solidFill>
              </a:defRPr>
            </a:lvl2pPr>
            <a:lvl3pPr lvl="2">
              <a:spcBef>
                <a:spcPts val="0"/>
              </a:spcBef>
              <a:spcAft>
                <a:spcPts val="0"/>
              </a:spcAft>
              <a:buClr>
                <a:srgbClr val="4C4F69"/>
              </a:buClr>
              <a:buSzPts val="2800"/>
              <a:buNone/>
              <a:defRPr>
                <a:solidFill>
                  <a:srgbClr val="4C4F69"/>
                </a:solidFill>
              </a:defRPr>
            </a:lvl3pPr>
            <a:lvl4pPr lvl="3">
              <a:spcBef>
                <a:spcPts val="0"/>
              </a:spcBef>
              <a:spcAft>
                <a:spcPts val="0"/>
              </a:spcAft>
              <a:buClr>
                <a:srgbClr val="4C4F69"/>
              </a:buClr>
              <a:buSzPts val="2800"/>
              <a:buNone/>
              <a:defRPr>
                <a:solidFill>
                  <a:srgbClr val="4C4F69"/>
                </a:solidFill>
              </a:defRPr>
            </a:lvl4pPr>
            <a:lvl5pPr lvl="4">
              <a:spcBef>
                <a:spcPts val="0"/>
              </a:spcBef>
              <a:spcAft>
                <a:spcPts val="0"/>
              </a:spcAft>
              <a:buClr>
                <a:srgbClr val="4C4F69"/>
              </a:buClr>
              <a:buSzPts val="2800"/>
              <a:buNone/>
              <a:defRPr>
                <a:solidFill>
                  <a:srgbClr val="4C4F69"/>
                </a:solidFill>
              </a:defRPr>
            </a:lvl5pPr>
            <a:lvl6pPr lvl="5">
              <a:spcBef>
                <a:spcPts val="0"/>
              </a:spcBef>
              <a:spcAft>
                <a:spcPts val="0"/>
              </a:spcAft>
              <a:buClr>
                <a:srgbClr val="4C4F69"/>
              </a:buClr>
              <a:buSzPts val="2800"/>
              <a:buNone/>
              <a:defRPr>
                <a:solidFill>
                  <a:srgbClr val="4C4F69"/>
                </a:solidFill>
              </a:defRPr>
            </a:lvl6pPr>
            <a:lvl7pPr lvl="6">
              <a:spcBef>
                <a:spcPts val="0"/>
              </a:spcBef>
              <a:spcAft>
                <a:spcPts val="0"/>
              </a:spcAft>
              <a:buClr>
                <a:srgbClr val="4C4F69"/>
              </a:buClr>
              <a:buSzPts val="2800"/>
              <a:buNone/>
              <a:defRPr>
                <a:solidFill>
                  <a:srgbClr val="4C4F69"/>
                </a:solidFill>
              </a:defRPr>
            </a:lvl7pPr>
            <a:lvl8pPr lvl="7">
              <a:spcBef>
                <a:spcPts val="0"/>
              </a:spcBef>
              <a:spcAft>
                <a:spcPts val="0"/>
              </a:spcAft>
              <a:buClr>
                <a:srgbClr val="4C4F69"/>
              </a:buClr>
              <a:buSzPts val="2800"/>
              <a:buNone/>
              <a:defRPr>
                <a:solidFill>
                  <a:srgbClr val="4C4F69"/>
                </a:solidFill>
              </a:defRPr>
            </a:lvl8pPr>
            <a:lvl9pPr lvl="8">
              <a:spcBef>
                <a:spcPts val="0"/>
              </a:spcBef>
              <a:spcAft>
                <a:spcPts val="0"/>
              </a:spcAft>
              <a:buClr>
                <a:srgbClr val="4C4F69"/>
              </a:buClr>
              <a:buSzPts val="2800"/>
              <a:buNone/>
              <a:defRPr>
                <a:solidFill>
                  <a:srgbClr val="4C4F69"/>
                </a:solidFill>
              </a:defRPr>
            </a:lvl9pPr>
          </a:lstStyle>
          <a:p/>
        </p:txBody>
      </p:sp>
      <p:sp>
        <p:nvSpPr>
          <p:cNvPr id="83" name="Google Shape;83;p3"/>
          <p:cNvSpPr/>
          <p:nvPr/>
        </p:nvSpPr>
        <p:spPr>
          <a:xfrm>
            <a:off x="7772400" y="0"/>
            <a:ext cx="914400" cy="457200"/>
          </a:xfrm>
          <a:prstGeom prst="rect">
            <a:avLst/>
          </a:prstGeom>
          <a:solidFill>
            <a:srgbClr val="EFF1F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4C4F69"/>
                </a:solidFill>
                <a:latin typeface="DM Sans"/>
                <a:ea typeface="DM Sans"/>
                <a:cs typeface="DM Sans"/>
                <a:sym typeface="DM Sans"/>
              </a:rPr>
              <a:t>KCPC</a:t>
            </a:r>
            <a:endParaRPr sz="1600">
              <a:solidFill>
                <a:srgbClr val="4C4F69"/>
              </a:solidFill>
              <a:latin typeface="DM Sans"/>
              <a:ea typeface="DM Sans"/>
              <a:cs typeface="DM Sans"/>
              <a:sym typeface="DM Sans"/>
            </a:endParaRPr>
          </a:p>
        </p:txBody>
      </p:sp>
      <p:sp>
        <p:nvSpPr>
          <p:cNvPr id="84" name="Google Shape;84;p3"/>
          <p:cNvSpPr txBox="1"/>
          <p:nvPr/>
        </p:nvSpPr>
        <p:spPr>
          <a:xfrm>
            <a:off x="457200" y="4686300"/>
            <a:ext cx="28140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5C5F77"/>
                </a:solidFill>
                <a:latin typeface="DM Mono"/>
                <a:ea typeface="DM Mono"/>
                <a:cs typeface="DM Mono"/>
                <a:sym typeface="DM Mono"/>
              </a:rPr>
              <a:t>kcpc.orthant.co.uk</a:t>
            </a:r>
            <a:endParaRPr sz="1600">
              <a:solidFill>
                <a:srgbClr val="5C5F77"/>
              </a:solidFill>
              <a:latin typeface="DM Mono"/>
              <a:ea typeface="DM Mono"/>
              <a:cs typeface="DM Mono"/>
              <a:sym typeface="DM Mon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1_1">
    <p:spTree>
      <p:nvGrpSpPr>
        <p:cNvPr id="85" name="Shape 85"/>
        <p:cNvGrpSpPr/>
        <p:nvPr/>
      </p:nvGrpSpPr>
      <p:grpSpPr>
        <a:xfrm>
          <a:off x="0" y="0"/>
          <a:ext cx="0" cy="0"/>
          <a:chOff x="0" y="0"/>
          <a:chExt cx="0" cy="0"/>
        </a:xfrm>
      </p:grpSpPr>
      <p:sp>
        <p:nvSpPr>
          <p:cNvPr id="86" name="Google Shape;86;p4"/>
          <p:cNvSpPr/>
          <p:nvPr/>
        </p:nvSpPr>
        <p:spPr>
          <a:xfrm>
            <a:off x="0" y="0"/>
            <a:ext cx="4572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4C4F69"/>
              </a:solidFill>
              <a:latin typeface="DM Sans"/>
              <a:ea typeface="DM Sans"/>
              <a:cs typeface="DM Sans"/>
              <a:sym typeface="DM Sans"/>
            </a:endParaRPr>
          </a:p>
        </p:txBody>
      </p:sp>
      <p:sp>
        <p:nvSpPr>
          <p:cNvPr id="87" name="Google Shape;87;p4"/>
          <p:cNvSpPr/>
          <p:nvPr/>
        </p:nvSpPr>
        <p:spPr>
          <a:xfrm>
            <a:off x="457200" y="0"/>
            <a:ext cx="82296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4C4F69"/>
              </a:solidFill>
              <a:latin typeface="DM Sans"/>
              <a:ea typeface="DM Sans"/>
              <a:cs typeface="DM Sans"/>
              <a:sym typeface="DM Sans"/>
            </a:endParaRPr>
          </a:p>
        </p:txBody>
      </p:sp>
      <p:sp>
        <p:nvSpPr>
          <p:cNvPr id="88" name="Google Shape;88;p4"/>
          <p:cNvSpPr/>
          <p:nvPr/>
        </p:nvSpPr>
        <p:spPr>
          <a:xfrm>
            <a:off x="8686800" y="0"/>
            <a:ext cx="4572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4C4F69"/>
              </a:solidFill>
              <a:latin typeface="DM Sans"/>
              <a:ea typeface="DM Sans"/>
              <a:cs typeface="DM Sans"/>
              <a:sym typeface="DM Sans"/>
            </a:endParaRPr>
          </a:p>
        </p:txBody>
      </p:sp>
      <p:sp>
        <p:nvSpPr>
          <p:cNvPr id="89" name="Google Shape;89;p4"/>
          <p:cNvSpPr/>
          <p:nvPr/>
        </p:nvSpPr>
        <p:spPr>
          <a:xfrm>
            <a:off x="0" y="4686300"/>
            <a:ext cx="4572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4C4F69"/>
              </a:solidFill>
              <a:latin typeface="DM Sans"/>
              <a:ea typeface="DM Sans"/>
              <a:cs typeface="DM Sans"/>
              <a:sym typeface="DM Sans"/>
            </a:endParaRPr>
          </a:p>
        </p:txBody>
      </p:sp>
      <p:sp>
        <p:nvSpPr>
          <p:cNvPr id="90" name="Google Shape;90;p4"/>
          <p:cNvSpPr/>
          <p:nvPr/>
        </p:nvSpPr>
        <p:spPr>
          <a:xfrm>
            <a:off x="457200" y="4686300"/>
            <a:ext cx="82296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4C4F69"/>
              </a:solidFill>
              <a:latin typeface="DM Sans"/>
              <a:ea typeface="DM Sans"/>
              <a:cs typeface="DM Sans"/>
              <a:sym typeface="DM Sans"/>
            </a:endParaRPr>
          </a:p>
        </p:txBody>
      </p:sp>
      <p:sp>
        <p:nvSpPr>
          <p:cNvPr id="91" name="Google Shape;91;p4"/>
          <p:cNvSpPr/>
          <p:nvPr/>
        </p:nvSpPr>
        <p:spPr>
          <a:xfrm>
            <a:off x="8686800" y="4686300"/>
            <a:ext cx="457200" cy="457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DM Sans"/>
              <a:ea typeface="DM Sans"/>
              <a:cs typeface="DM Sans"/>
              <a:sym typeface="DM Sans"/>
            </a:endParaRPr>
          </a:p>
        </p:txBody>
      </p:sp>
      <p:sp>
        <p:nvSpPr>
          <p:cNvPr id="92" name="Google Shape;92;p4"/>
          <p:cNvSpPr/>
          <p:nvPr/>
        </p:nvSpPr>
        <p:spPr>
          <a:xfrm>
            <a:off x="0" y="457200"/>
            <a:ext cx="457200" cy="42291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4C4F69"/>
              </a:solidFill>
              <a:latin typeface="DM Sans"/>
              <a:ea typeface="DM Sans"/>
              <a:cs typeface="DM Sans"/>
              <a:sym typeface="DM Sans"/>
            </a:endParaRPr>
          </a:p>
        </p:txBody>
      </p:sp>
      <p:sp>
        <p:nvSpPr>
          <p:cNvPr id="93" name="Google Shape;93;p4"/>
          <p:cNvSpPr/>
          <p:nvPr/>
        </p:nvSpPr>
        <p:spPr>
          <a:xfrm>
            <a:off x="8686800" y="457200"/>
            <a:ext cx="457200" cy="42291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4C4F69"/>
              </a:solidFill>
              <a:latin typeface="DM Sans"/>
              <a:ea typeface="DM Sans"/>
              <a:cs typeface="DM Sans"/>
              <a:sym typeface="DM Sans"/>
            </a:endParaRPr>
          </a:p>
        </p:txBody>
      </p:sp>
      <p:sp>
        <p:nvSpPr>
          <p:cNvPr id="94" name="Google Shape;94;p4"/>
          <p:cNvSpPr/>
          <p:nvPr/>
        </p:nvSpPr>
        <p:spPr>
          <a:xfrm>
            <a:off x="457200" y="457200"/>
            <a:ext cx="82296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0">
              <a:latin typeface="DM Sans"/>
              <a:ea typeface="DM Sans"/>
              <a:cs typeface="DM Sans"/>
              <a:sym typeface="DM Sans"/>
            </a:endParaRPr>
          </a:p>
        </p:txBody>
      </p:sp>
      <p:sp>
        <p:nvSpPr>
          <p:cNvPr id="95" name="Google Shape;95;p4"/>
          <p:cNvSpPr/>
          <p:nvPr/>
        </p:nvSpPr>
        <p:spPr>
          <a:xfrm>
            <a:off x="0" y="457200"/>
            <a:ext cx="4572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4C4F69"/>
              </a:solidFill>
              <a:latin typeface="DM Sans"/>
              <a:ea typeface="DM Sans"/>
              <a:cs typeface="DM Sans"/>
              <a:sym typeface="DM Sans"/>
            </a:endParaRPr>
          </a:p>
        </p:txBody>
      </p:sp>
      <p:sp>
        <p:nvSpPr>
          <p:cNvPr id="96" name="Google Shape;96;p4"/>
          <p:cNvSpPr/>
          <p:nvPr/>
        </p:nvSpPr>
        <p:spPr>
          <a:xfrm>
            <a:off x="8686800" y="457200"/>
            <a:ext cx="4572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4C4F69"/>
              </a:solidFill>
              <a:latin typeface="DM Sans"/>
              <a:ea typeface="DM Sans"/>
              <a:cs typeface="DM Sans"/>
              <a:sym typeface="DM Sans"/>
            </a:endParaRPr>
          </a:p>
        </p:txBody>
      </p:sp>
      <p:sp>
        <p:nvSpPr>
          <p:cNvPr id="97" name="Google Shape;97;p4"/>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a:bodyPr>
          <a:lstStyle>
            <a:lvl1pPr lvl="0">
              <a:lnSpc>
                <a:spcPct val="100000"/>
              </a:lnSpc>
              <a:spcBef>
                <a:spcPts val="0"/>
              </a:spcBef>
              <a:spcAft>
                <a:spcPts val="0"/>
              </a:spcAft>
              <a:buClr>
                <a:srgbClr val="4C4F69"/>
              </a:buClr>
              <a:buSzPts val="2400"/>
              <a:buFont typeface="DM Sans"/>
              <a:buNone/>
              <a:defRPr sz="2400">
                <a:solidFill>
                  <a:srgbClr val="4C4F69"/>
                </a:solidFill>
                <a:latin typeface="DM Sans"/>
                <a:ea typeface="DM Sans"/>
                <a:cs typeface="DM Sans"/>
                <a:sym typeface="DM Sans"/>
              </a:defRPr>
            </a:lvl1pPr>
            <a:lvl2pPr lvl="1">
              <a:lnSpc>
                <a:spcPct val="100000"/>
              </a:lnSpc>
              <a:spcBef>
                <a:spcPts val="0"/>
              </a:spcBef>
              <a:spcAft>
                <a:spcPts val="0"/>
              </a:spcAft>
              <a:buClr>
                <a:srgbClr val="4C4F69"/>
              </a:buClr>
              <a:buSzPts val="2500"/>
              <a:buFont typeface="DM Sans"/>
              <a:buNone/>
              <a:defRPr sz="2500">
                <a:solidFill>
                  <a:srgbClr val="4C4F69"/>
                </a:solidFill>
                <a:latin typeface="DM Sans"/>
                <a:ea typeface="DM Sans"/>
                <a:cs typeface="DM Sans"/>
                <a:sym typeface="DM Sans"/>
              </a:defRPr>
            </a:lvl2pPr>
            <a:lvl3pPr lvl="2">
              <a:lnSpc>
                <a:spcPct val="100000"/>
              </a:lnSpc>
              <a:spcBef>
                <a:spcPts val="0"/>
              </a:spcBef>
              <a:spcAft>
                <a:spcPts val="0"/>
              </a:spcAft>
              <a:buClr>
                <a:srgbClr val="4C4F69"/>
              </a:buClr>
              <a:buSzPts val="2500"/>
              <a:buFont typeface="DM Sans"/>
              <a:buNone/>
              <a:defRPr sz="2500">
                <a:solidFill>
                  <a:srgbClr val="4C4F69"/>
                </a:solidFill>
                <a:latin typeface="DM Sans"/>
                <a:ea typeface="DM Sans"/>
                <a:cs typeface="DM Sans"/>
                <a:sym typeface="DM Sans"/>
              </a:defRPr>
            </a:lvl3pPr>
            <a:lvl4pPr lvl="3">
              <a:lnSpc>
                <a:spcPct val="100000"/>
              </a:lnSpc>
              <a:spcBef>
                <a:spcPts val="0"/>
              </a:spcBef>
              <a:spcAft>
                <a:spcPts val="0"/>
              </a:spcAft>
              <a:buClr>
                <a:srgbClr val="4C4F69"/>
              </a:buClr>
              <a:buSzPts val="2500"/>
              <a:buFont typeface="DM Sans"/>
              <a:buNone/>
              <a:defRPr sz="2500">
                <a:solidFill>
                  <a:srgbClr val="4C4F69"/>
                </a:solidFill>
                <a:latin typeface="DM Sans"/>
                <a:ea typeface="DM Sans"/>
                <a:cs typeface="DM Sans"/>
                <a:sym typeface="DM Sans"/>
              </a:defRPr>
            </a:lvl4pPr>
            <a:lvl5pPr lvl="4">
              <a:lnSpc>
                <a:spcPct val="100000"/>
              </a:lnSpc>
              <a:spcBef>
                <a:spcPts val="0"/>
              </a:spcBef>
              <a:spcAft>
                <a:spcPts val="0"/>
              </a:spcAft>
              <a:buClr>
                <a:srgbClr val="4C4F69"/>
              </a:buClr>
              <a:buSzPts val="2500"/>
              <a:buFont typeface="DM Sans"/>
              <a:buNone/>
              <a:defRPr sz="2500">
                <a:solidFill>
                  <a:srgbClr val="4C4F69"/>
                </a:solidFill>
                <a:latin typeface="DM Sans"/>
                <a:ea typeface="DM Sans"/>
                <a:cs typeface="DM Sans"/>
                <a:sym typeface="DM Sans"/>
              </a:defRPr>
            </a:lvl5pPr>
            <a:lvl6pPr lvl="5">
              <a:lnSpc>
                <a:spcPct val="100000"/>
              </a:lnSpc>
              <a:spcBef>
                <a:spcPts val="0"/>
              </a:spcBef>
              <a:spcAft>
                <a:spcPts val="0"/>
              </a:spcAft>
              <a:buClr>
                <a:srgbClr val="4C4F69"/>
              </a:buClr>
              <a:buSzPts val="2500"/>
              <a:buFont typeface="DM Sans"/>
              <a:buNone/>
              <a:defRPr sz="2500">
                <a:solidFill>
                  <a:srgbClr val="4C4F69"/>
                </a:solidFill>
                <a:latin typeface="DM Sans"/>
                <a:ea typeface="DM Sans"/>
                <a:cs typeface="DM Sans"/>
                <a:sym typeface="DM Sans"/>
              </a:defRPr>
            </a:lvl6pPr>
            <a:lvl7pPr lvl="6">
              <a:lnSpc>
                <a:spcPct val="100000"/>
              </a:lnSpc>
              <a:spcBef>
                <a:spcPts val="0"/>
              </a:spcBef>
              <a:spcAft>
                <a:spcPts val="0"/>
              </a:spcAft>
              <a:buClr>
                <a:srgbClr val="4C4F69"/>
              </a:buClr>
              <a:buSzPts val="2500"/>
              <a:buFont typeface="DM Sans"/>
              <a:buNone/>
              <a:defRPr sz="2500">
                <a:solidFill>
                  <a:srgbClr val="4C4F69"/>
                </a:solidFill>
                <a:latin typeface="DM Sans"/>
                <a:ea typeface="DM Sans"/>
                <a:cs typeface="DM Sans"/>
                <a:sym typeface="DM Sans"/>
              </a:defRPr>
            </a:lvl7pPr>
            <a:lvl8pPr lvl="7">
              <a:lnSpc>
                <a:spcPct val="100000"/>
              </a:lnSpc>
              <a:spcBef>
                <a:spcPts val="0"/>
              </a:spcBef>
              <a:spcAft>
                <a:spcPts val="0"/>
              </a:spcAft>
              <a:buClr>
                <a:srgbClr val="4C4F69"/>
              </a:buClr>
              <a:buSzPts val="2500"/>
              <a:buFont typeface="DM Sans"/>
              <a:buNone/>
              <a:defRPr sz="2500">
                <a:solidFill>
                  <a:srgbClr val="4C4F69"/>
                </a:solidFill>
                <a:latin typeface="DM Sans"/>
                <a:ea typeface="DM Sans"/>
                <a:cs typeface="DM Sans"/>
                <a:sym typeface="DM Sans"/>
              </a:defRPr>
            </a:lvl8pPr>
            <a:lvl9pPr lvl="8">
              <a:lnSpc>
                <a:spcPct val="100000"/>
              </a:lnSpc>
              <a:spcBef>
                <a:spcPts val="0"/>
              </a:spcBef>
              <a:spcAft>
                <a:spcPts val="0"/>
              </a:spcAft>
              <a:buClr>
                <a:srgbClr val="4C4F69"/>
              </a:buClr>
              <a:buSzPts val="2500"/>
              <a:buFont typeface="DM Sans"/>
              <a:buNone/>
              <a:defRPr sz="2500">
                <a:solidFill>
                  <a:srgbClr val="4C4F69"/>
                </a:solidFill>
                <a:latin typeface="DM Sans"/>
                <a:ea typeface="DM Sans"/>
                <a:cs typeface="DM Sans"/>
                <a:sym typeface="DM Sans"/>
              </a:defRPr>
            </a:lvl9pPr>
          </a:lstStyle>
          <a:p/>
        </p:txBody>
      </p:sp>
      <p:sp>
        <p:nvSpPr>
          <p:cNvPr id="98" name="Google Shape;98;p4"/>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lvl1pPr indent="-355600" lvl="0" marL="457200">
              <a:spcBef>
                <a:spcPts val="0"/>
              </a:spcBef>
              <a:spcAft>
                <a:spcPts val="0"/>
              </a:spcAft>
              <a:buClr>
                <a:srgbClr val="4C4F69"/>
              </a:buClr>
              <a:buSzPts val="2000"/>
              <a:buChar char="●"/>
              <a:defRPr sz="2000">
                <a:solidFill>
                  <a:srgbClr val="4C4F69"/>
                </a:solidFill>
              </a:defRPr>
            </a:lvl1pPr>
            <a:lvl2pPr indent="-330200" lvl="1" marL="914400">
              <a:spcBef>
                <a:spcPts val="0"/>
              </a:spcBef>
              <a:spcAft>
                <a:spcPts val="0"/>
              </a:spcAft>
              <a:buClr>
                <a:srgbClr val="4C4F69"/>
              </a:buClr>
              <a:buSzPts val="1600"/>
              <a:buChar char="○"/>
              <a:defRPr sz="1600">
                <a:solidFill>
                  <a:srgbClr val="4C4F69"/>
                </a:solidFill>
              </a:defRPr>
            </a:lvl2pPr>
            <a:lvl3pPr indent="-304800" lvl="2" marL="1371600">
              <a:spcBef>
                <a:spcPts val="0"/>
              </a:spcBef>
              <a:spcAft>
                <a:spcPts val="0"/>
              </a:spcAft>
              <a:buClr>
                <a:srgbClr val="4C4F69"/>
              </a:buClr>
              <a:buSzPts val="1200"/>
              <a:buChar char="■"/>
              <a:defRPr sz="1200">
                <a:solidFill>
                  <a:srgbClr val="4C4F69"/>
                </a:solidFill>
              </a:defRPr>
            </a:lvl3pPr>
            <a:lvl4pPr indent="-304800" lvl="3" marL="1828800">
              <a:spcBef>
                <a:spcPts val="0"/>
              </a:spcBef>
              <a:spcAft>
                <a:spcPts val="0"/>
              </a:spcAft>
              <a:buClr>
                <a:srgbClr val="4C4F69"/>
              </a:buClr>
              <a:buSzPts val="1200"/>
              <a:buChar char="●"/>
              <a:defRPr sz="1200">
                <a:solidFill>
                  <a:srgbClr val="4C4F69"/>
                </a:solidFill>
              </a:defRPr>
            </a:lvl4pPr>
            <a:lvl5pPr indent="-304800" lvl="4" marL="2286000">
              <a:spcBef>
                <a:spcPts val="0"/>
              </a:spcBef>
              <a:spcAft>
                <a:spcPts val="0"/>
              </a:spcAft>
              <a:buClr>
                <a:srgbClr val="4C4F69"/>
              </a:buClr>
              <a:buSzPts val="1200"/>
              <a:buChar char="○"/>
              <a:defRPr sz="1200">
                <a:solidFill>
                  <a:srgbClr val="4C4F69"/>
                </a:solidFill>
              </a:defRPr>
            </a:lvl5pPr>
            <a:lvl6pPr indent="-304800" lvl="5" marL="2743200">
              <a:spcBef>
                <a:spcPts val="0"/>
              </a:spcBef>
              <a:spcAft>
                <a:spcPts val="0"/>
              </a:spcAft>
              <a:buClr>
                <a:srgbClr val="4C4F69"/>
              </a:buClr>
              <a:buSzPts val="1200"/>
              <a:buChar char="■"/>
              <a:defRPr sz="1200">
                <a:solidFill>
                  <a:srgbClr val="4C4F69"/>
                </a:solidFill>
              </a:defRPr>
            </a:lvl6pPr>
            <a:lvl7pPr indent="-304800" lvl="6" marL="3200400">
              <a:spcBef>
                <a:spcPts val="0"/>
              </a:spcBef>
              <a:spcAft>
                <a:spcPts val="0"/>
              </a:spcAft>
              <a:buClr>
                <a:srgbClr val="4C4F69"/>
              </a:buClr>
              <a:buSzPts val="1200"/>
              <a:buChar char="●"/>
              <a:defRPr sz="1200">
                <a:solidFill>
                  <a:srgbClr val="4C4F69"/>
                </a:solidFill>
              </a:defRPr>
            </a:lvl7pPr>
            <a:lvl8pPr indent="-304800" lvl="7" marL="3657600">
              <a:spcBef>
                <a:spcPts val="0"/>
              </a:spcBef>
              <a:spcAft>
                <a:spcPts val="0"/>
              </a:spcAft>
              <a:buClr>
                <a:srgbClr val="4C4F69"/>
              </a:buClr>
              <a:buSzPts val="1200"/>
              <a:buChar char="○"/>
              <a:defRPr sz="1200">
                <a:solidFill>
                  <a:srgbClr val="4C4F69"/>
                </a:solidFill>
              </a:defRPr>
            </a:lvl8pPr>
            <a:lvl9pPr indent="-304800" lvl="8" marL="4114800">
              <a:spcBef>
                <a:spcPts val="0"/>
              </a:spcBef>
              <a:spcAft>
                <a:spcPts val="0"/>
              </a:spcAft>
              <a:buClr>
                <a:srgbClr val="4C4F69"/>
              </a:buClr>
              <a:buSzPts val="1200"/>
              <a:buChar char="■"/>
              <a:defRPr sz="1200">
                <a:solidFill>
                  <a:srgbClr val="4C4F69"/>
                </a:solidFill>
              </a:defRPr>
            </a:lvl9pPr>
          </a:lstStyle>
          <a:p/>
        </p:txBody>
      </p:sp>
      <p:grpSp>
        <p:nvGrpSpPr>
          <p:cNvPr id="99" name="Google Shape;99;p4"/>
          <p:cNvGrpSpPr/>
          <p:nvPr/>
        </p:nvGrpSpPr>
        <p:grpSpPr>
          <a:xfrm rot="5400000">
            <a:off x="91440" y="548640"/>
            <a:ext cx="274315" cy="274332"/>
            <a:chOff x="96076" y="654376"/>
            <a:chExt cx="369896" cy="333900"/>
          </a:xfrm>
        </p:grpSpPr>
        <p:cxnSp>
          <p:nvCxnSpPr>
            <p:cNvPr id="100" name="Google Shape;100;p4"/>
            <p:cNvCxnSpPr/>
            <p:nvPr/>
          </p:nvCxnSpPr>
          <p:spPr>
            <a:xfrm rot="5400000">
              <a:off x="113975" y="821326"/>
              <a:ext cx="333900" cy="0"/>
            </a:xfrm>
            <a:prstGeom prst="straightConnector1">
              <a:avLst/>
            </a:prstGeom>
            <a:noFill/>
            <a:ln cap="flat" cmpd="sng" w="19050">
              <a:solidFill>
                <a:srgbClr val="4C4F69"/>
              </a:solidFill>
              <a:prstDash val="solid"/>
              <a:round/>
              <a:headEnd len="sm" w="sm" type="none"/>
              <a:tailEnd len="sm" w="sm" type="none"/>
            </a:ln>
          </p:spPr>
        </p:cxnSp>
        <p:sp>
          <p:nvSpPr>
            <p:cNvPr id="101" name="Google Shape;101;p4"/>
            <p:cNvSpPr/>
            <p:nvPr/>
          </p:nvSpPr>
          <p:spPr>
            <a:xfrm>
              <a:off x="281321" y="658254"/>
              <a:ext cx="184651" cy="165556"/>
            </a:xfrm>
            <a:custGeom>
              <a:rect b="b" l="l" r="r" t="t"/>
              <a:pathLst>
                <a:path extrusionOk="0" h="6525" w="7310">
                  <a:moveTo>
                    <a:pt x="7310" y="6525"/>
                  </a:moveTo>
                  <a:cubicBezTo>
                    <a:pt x="4232" y="5432"/>
                    <a:pt x="1499" y="2902"/>
                    <a:pt x="0" y="0"/>
                  </a:cubicBezTo>
                </a:path>
              </a:pathLst>
            </a:custGeom>
            <a:noFill/>
            <a:ln cap="flat" cmpd="sng" w="19050">
              <a:solidFill>
                <a:srgbClr val="4C4F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32C3C"/>
                </a:solidFill>
                <a:latin typeface="Inter"/>
                <a:ea typeface="Inter"/>
                <a:cs typeface="Inter"/>
                <a:sym typeface="Inter"/>
              </a:endParaRPr>
            </a:p>
          </p:txBody>
        </p:sp>
        <p:sp>
          <p:nvSpPr>
            <p:cNvPr id="102" name="Google Shape;102;p4"/>
            <p:cNvSpPr/>
            <p:nvPr/>
          </p:nvSpPr>
          <p:spPr>
            <a:xfrm flipH="1">
              <a:off x="96076" y="658254"/>
              <a:ext cx="184651" cy="165556"/>
            </a:xfrm>
            <a:custGeom>
              <a:rect b="b" l="l" r="r" t="t"/>
              <a:pathLst>
                <a:path extrusionOk="0" h="6525" w="7310">
                  <a:moveTo>
                    <a:pt x="7310" y="6525"/>
                  </a:moveTo>
                  <a:cubicBezTo>
                    <a:pt x="4232" y="5432"/>
                    <a:pt x="1499" y="2902"/>
                    <a:pt x="0" y="0"/>
                  </a:cubicBezTo>
                </a:path>
              </a:pathLst>
            </a:custGeom>
            <a:noFill/>
            <a:ln cap="flat" cmpd="sng" w="19050">
              <a:solidFill>
                <a:srgbClr val="4C4F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032C3C"/>
                </a:solidFill>
                <a:latin typeface="Inter"/>
                <a:ea typeface="Inter"/>
                <a:cs typeface="Inter"/>
                <a:sym typeface="Inter"/>
              </a:endParaRPr>
            </a:p>
          </p:txBody>
        </p:sp>
      </p:grpSp>
      <p:sp>
        <p:nvSpPr>
          <p:cNvPr id="103" name="Google Shape;103;p4"/>
          <p:cNvSpPr txBox="1"/>
          <p:nvPr>
            <p:ph idx="12" type="sldNum"/>
          </p:nvPr>
        </p:nvSpPr>
        <p:spPr>
          <a:xfrm>
            <a:off x="8686800" y="4686300"/>
            <a:ext cx="457200" cy="457200"/>
          </a:xfrm>
          <a:prstGeom prst="rect">
            <a:avLst/>
          </a:prstGeom>
          <a:noFill/>
        </p:spPr>
        <p:txBody>
          <a:bodyPr anchorCtr="0" anchor="ctr" bIns="91425" lIns="91425" spcFirstLastPara="1" rIns="91425" wrap="square" tIns="91425">
            <a:normAutofit/>
          </a:bodyPr>
          <a:lstStyle>
            <a:lvl1pPr lvl="0" algn="ctr">
              <a:buNone/>
              <a:defRPr sz="1300">
                <a:solidFill>
                  <a:srgbClr val="4C4F69"/>
                </a:solidFill>
                <a:latin typeface="DM Sans"/>
                <a:ea typeface="DM Sans"/>
                <a:cs typeface="DM Sans"/>
                <a:sym typeface="DM Sans"/>
              </a:defRPr>
            </a:lvl1pPr>
            <a:lvl2pPr lvl="1" algn="ctr">
              <a:buNone/>
              <a:defRPr sz="1300">
                <a:solidFill>
                  <a:srgbClr val="4C4F69"/>
                </a:solidFill>
                <a:latin typeface="DM Sans"/>
                <a:ea typeface="DM Sans"/>
                <a:cs typeface="DM Sans"/>
                <a:sym typeface="DM Sans"/>
              </a:defRPr>
            </a:lvl2pPr>
            <a:lvl3pPr lvl="2" algn="ctr">
              <a:buNone/>
              <a:defRPr sz="1300">
                <a:solidFill>
                  <a:srgbClr val="4C4F69"/>
                </a:solidFill>
                <a:latin typeface="DM Sans"/>
                <a:ea typeface="DM Sans"/>
                <a:cs typeface="DM Sans"/>
                <a:sym typeface="DM Sans"/>
              </a:defRPr>
            </a:lvl3pPr>
            <a:lvl4pPr lvl="3" algn="ctr">
              <a:buNone/>
              <a:defRPr sz="1300">
                <a:solidFill>
                  <a:srgbClr val="4C4F69"/>
                </a:solidFill>
                <a:latin typeface="DM Sans"/>
                <a:ea typeface="DM Sans"/>
                <a:cs typeface="DM Sans"/>
                <a:sym typeface="DM Sans"/>
              </a:defRPr>
            </a:lvl4pPr>
            <a:lvl5pPr lvl="4" algn="ctr">
              <a:buNone/>
              <a:defRPr sz="1300">
                <a:solidFill>
                  <a:srgbClr val="4C4F69"/>
                </a:solidFill>
                <a:latin typeface="DM Sans"/>
                <a:ea typeface="DM Sans"/>
                <a:cs typeface="DM Sans"/>
                <a:sym typeface="DM Sans"/>
              </a:defRPr>
            </a:lvl5pPr>
            <a:lvl6pPr lvl="5" algn="ctr">
              <a:buNone/>
              <a:defRPr sz="1300">
                <a:solidFill>
                  <a:srgbClr val="4C4F69"/>
                </a:solidFill>
                <a:latin typeface="DM Sans"/>
                <a:ea typeface="DM Sans"/>
                <a:cs typeface="DM Sans"/>
                <a:sym typeface="DM Sans"/>
              </a:defRPr>
            </a:lvl6pPr>
            <a:lvl7pPr lvl="6" algn="ctr">
              <a:buNone/>
              <a:defRPr sz="1300">
                <a:solidFill>
                  <a:srgbClr val="4C4F69"/>
                </a:solidFill>
                <a:latin typeface="DM Sans"/>
                <a:ea typeface="DM Sans"/>
                <a:cs typeface="DM Sans"/>
                <a:sym typeface="DM Sans"/>
              </a:defRPr>
            </a:lvl7pPr>
            <a:lvl8pPr lvl="7" algn="ctr">
              <a:buNone/>
              <a:defRPr sz="1300">
                <a:solidFill>
                  <a:srgbClr val="4C4F69"/>
                </a:solidFill>
                <a:latin typeface="DM Sans"/>
                <a:ea typeface="DM Sans"/>
                <a:cs typeface="DM Sans"/>
                <a:sym typeface="DM Sans"/>
              </a:defRPr>
            </a:lvl8pPr>
            <a:lvl9pPr lvl="8" algn="ctr">
              <a:buNone/>
              <a:defRPr sz="1300">
                <a:solidFill>
                  <a:srgbClr val="4C4F69"/>
                </a:solidFill>
                <a:latin typeface="DM Sans"/>
                <a:ea typeface="DM Sans"/>
                <a:cs typeface="DM Sans"/>
                <a:sym typeface="DM Sans"/>
              </a:defRPr>
            </a:lvl9pPr>
          </a:lstStyle>
          <a:p>
            <a:pPr indent="0" lvl="0" marL="0" rtl="0" algn="ctr">
              <a:spcBef>
                <a:spcPts val="0"/>
              </a:spcBef>
              <a:spcAft>
                <a:spcPts val="0"/>
              </a:spcAft>
              <a:buNone/>
            </a:pPr>
            <a:fld id="{00000000-1234-1234-1234-123412341234}" type="slidenum">
              <a:rPr lang="en"/>
              <a:t>‹#›</a:t>
            </a:fld>
            <a:endParaRPr/>
          </a:p>
        </p:txBody>
      </p:sp>
      <p:sp>
        <p:nvSpPr>
          <p:cNvPr id="104" name="Google Shape;104;p4"/>
          <p:cNvSpPr/>
          <p:nvPr/>
        </p:nvSpPr>
        <p:spPr>
          <a:xfrm>
            <a:off x="7772400" y="0"/>
            <a:ext cx="914400" cy="457200"/>
          </a:xfrm>
          <a:prstGeom prst="rect">
            <a:avLst/>
          </a:prstGeom>
          <a:solidFill>
            <a:srgbClr val="EFF1F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4C4F69"/>
                </a:solidFill>
                <a:latin typeface="DM Sans"/>
                <a:ea typeface="DM Sans"/>
                <a:cs typeface="DM Sans"/>
                <a:sym typeface="DM Sans"/>
              </a:rPr>
              <a:t>KCPC</a:t>
            </a:r>
            <a:endParaRPr sz="1600">
              <a:solidFill>
                <a:srgbClr val="4C4F69"/>
              </a:solidFill>
              <a:latin typeface="DM Sans"/>
              <a:ea typeface="DM Sans"/>
              <a:cs typeface="DM Sans"/>
              <a:sym typeface="DM Sans"/>
            </a:endParaRPr>
          </a:p>
        </p:txBody>
      </p:sp>
      <p:sp>
        <p:nvSpPr>
          <p:cNvPr id="105" name="Google Shape;105;p4"/>
          <p:cNvSpPr txBox="1"/>
          <p:nvPr/>
        </p:nvSpPr>
        <p:spPr>
          <a:xfrm>
            <a:off x="457200" y="4686300"/>
            <a:ext cx="28140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5C5F77"/>
                </a:solidFill>
                <a:latin typeface="DM Mono"/>
                <a:ea typeface="DM Mono"/>
                <a:cs typeface="DM Mono"/>
                <a:sym typeface="DM Mono"/>
              </a:rPr>
              <a:t>kcpc.orthant.co.uk</a:t>
            </a:r>
            <a:endParaRPr sz="1600">
              <a:solidFill>
                <a:srgbClr val="5C5F77"/>
              </a:solidFill>
              <a:latin typeface="DM Mono"/>
              <a:ea typeface="DM Mono"/>
              <a:cs typeface="DM Mono"/>
              <a:sym typeface="DM Mon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TITLE_2_2">
    <p:spTree>
      <p:nvGrpSpPr>
        <p:cNvPr id="106" name="Shape 106"/>
        <p:cNvGrpSpPr/>
        <p:nvPr/>
      </p:nvGrpSpPr>
      <p:grpSpPr>
        <a:xfrm>
          <a:off x="0" y="0"/>
          <a:ext cx="0" cy="0"/>
          <a:chOff x="0" y="0"/>
          <a:chExt cx="0" cy="0"/>
        </a:xfrm>
      </p:grpSpPr>
      <p:sp>
        <p:nvSpPr>
          <p:cNvPr id="107" name="Google Shape;107;p5"/>
          <p:cNvSpPr/>
          <p:nvPr/>
        </p:nvSpPr>
        <p:spPr>
          <a:xfrm>
            <a:off x="0" y="0"/>
            <a:ext cx="4572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4C4F69"/>
              </a:solidFill>
              <a:latin typeface="DM Sans"/>
              <a:ea typeface="DM Sans"/>
              <a:cs typeface="DM Sans"/>
              <a:sym typeface="DM Sans"/>
            </a:endParaRPr>
          </a:p>
        </p:txBody>
      </p:sp>
      <p:sp>
        <p:nvSpPr>
          <p:cNvPr id="108" name="Google Shape;108;p5"/>
          <p:cNvSpPr/>
          <p:nvPr/>
        </p:nvSpPr>
        <p:spPr>
          <a:xfrm>
            <a:off x="457200" y="0"/>
            <a:ext cx="82296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4C4F69"/>
              </a:solidFill>
              <a:latin typeface="DM Sans"/>
              <a:ea typeface="DM Sans"/>
              <a:cs typeface="DM Sans"/>
              <a:sym typeface="DM Sans"/>
            </a:endParaRPr>
          </a:p>
        </p:txBody>
      </p:sp>
      <p:sp>
        <p:nvSpPr>
          <p:cNvPr id="109" name="Google Shape;109;p5"/>
          <p:cNvSpPr/>
          <p:nvPr/>
        </p:nvSpPr>
        <p:spPr>
          <a:xfrm>
            <a:off x="8686800" y="0"/>
            <a:ext cx="4572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4C4F69"/>
              </a:solidFill>
              <a:latin typeface="DM Sans"/>
              <a:ea typeface="DM Sans"/>
              <a:cs typeface="DM Sans"/>
              <a:sym typeface="DM Sans"/>
            </a:endParaRPr>
          </a:p>
        </p:txBody>
      </p:sp>
      <p:sp>
        <p:nvSpPr>
          <p:cNvPr id="110" name="Google Shape;110;p5"/>
          <p:cNvSpPr/>
          <p:nvPr/>
        </p:nvSpPr>
        <p:spPr>
          <a:xfrm>
            <a:off x="0" y="4686300"/>
            <a:ext cx="4572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4C4F69"/>
              </a:solidFill>
              <a:latin typeface="DM Sans"/>
              <a:ea typeface="DM Sans"/>
              <a:cs typeface="DM Sans"/>
              <a:sym typeface="DM Sans"/>
            </a:endParaRPr>
          </a:p>
        </p:txBody>
      </p:sp>
      <p:sp>
        <p:nvSpPr>
          <p:cNvPr id="111" name="Google Shape;111;p5"/>
          <p:cNvSpPr/>
          <p:nvPr/>
        </p:nvSpPr>
        <p:spPr>
          <a:xfrm>
            <a:off x="457200" y="4686300"/>
            <a:ext cx="8229600" cy="4572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4C4F69"/>
              </a:solidFill>
              <a:latin typeface="DM Sans"/>
              <a:ea typeface="DM Sans"/>
              <a:cs typeface="DM Sans"/>
              <a:sym typeface="DM Sans"/>
            </a:endParaRPr>
          </a:p>
        </p:txBody>
      </p:sp>
      <p:sp>
        <p:nvSpPr>
          <p:cNvPr id="112" name="Google Shape;112;p5"/>
          <p:cNvSpPr/>
          <p:nvPr/>
        </p:nvSpPr>
        <p:spPr>
          <a:xfrm>
            <a:off x="0" y="457200"/>
            <a:ext cx="457200" cy="42291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4C4F69"/>
              </a:solidFill>
              <a:latin typeface="DM Sans"/>
              <a:ea typeface="DM Sans"/>
              <a:cs typeface="DM Sans"/>
              <a:sym typeface="DM Sans"/>
            </a:endParaRPr>
          </a:p>
        </p:txBody>
      </p:sp>
      <p:sp>
        <p:nvSpPr>
          <p:cNvPr id="113" name="Google Shape;113;p5"/>
          <p:cNvSpPr/>
          <p:nvPr/>
        </p:nvSpPr>
        <p:spPr>
          <a:xfrm>
            <a:off x="8686800" y="457200"/>
            <a:ext cx="457200" cy="4229100"/>
          </a:xfrm>
          <a:prstGeom prst="rect">
            <a:avLst/>
          </a:prstGeom>
          <a:solidFill>
            <a:srgbClr val="EFF1F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4C4F69"/>
              </a:solidFill>
              <a:latin typeface="DM Sans"/>
              <a:ea typeface="DM Sans"/>
              <a:cs typeface="DM Sans"/>
              <a:sym typeface="DM Sans"/>
            </a:endParaRPr>
          </a:p>
        </p:txBody>
      </p:sp>
      <p:sp>
        <p:nvSpPr>
          <p:cNvPr id="114" name="Google Shape;114;p5"/>
          <p:cNvSpPr/>
          <p:nvPr/>
        </p:nvSpPr>
        <p:spPr>
          <a:xfrm>
            <a:off x="8686800" y="4686300"/>
            <a:ext cx="457200" cy="4572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115" name="Google Shape;115;p5"/>
          <p:cNvSpPr txBox="1"/>
          <p:nvPr>
            <p:ph idx="12" type="sldNum"/>
          </p:nvPr>
        </p:nvSpPr>
        <p:spPr>
          <a:xfrm>
            <a:off x="8686825" y="4686250"/>
            <a:ext cx="457200" cy="457200"/>
          </a:xfrm>
          <a:prstGeom prst="rect">
            <a:avLst/>
          </a:prstGeom>
        </p:spPr>
        <p:txBody>
          <a:bodyPr anchorCtr="0" anchor="ctr" bIns="91425" lIns="91425" spcFirstLastPara="1" rIns="91425" wrap="square" tIns="91425">
            <a:normAutofit/>
          </a:bodyPr>
          <a:lstStyle>
            <a:lvl1pPr lvl="0" algn="ctr">
              <a:buNone/>
              <a:defRPr sz="1300">
                <a:latin typeface="DM Sans"/>
                <a:ea typeface="DM Sans"/>
                <a:cs typeface="DM Sans"/>
                <a:sym typeface="DM Sans"/>
              </a:defRPr>
            </a:lvl1pPr>
            <a:lvl2pPr lvl="1" algn="ctr">
              <a:buNone/>
              <a:defRPr sz="1300">
                <a:latin typeface="DM Sans"/>
                <a:ea typeface="DM Sans"/>
                <a:cs typeface="DM Sans"/>
                <a:sym typeface="DM Sans"/>
              </a:defRPr>
            </a:lvl2pPr>
            <a:lvl3pPr lvl="2" algn="ctr">
              <a:buNone/>
              <a:defRPr sz="1300">
                <a:latin typeface="DM Sans"/>
                <a:ea typeface="DM Sans"/>
                <a:cs typeface="DM Sans"/>
                <a:sym typeface="DM Sans"/>
              </a:defRPr>
            </a:lvl3pPr>
            <a:lvl4pPr lvl="3" algn="ctr">
              <a:buNone/>
              <a:defRPr sz="1300">
                <a:latin typeface="DM Sans"/>
                <a:ea typeface="DM Sans"/>
                <a:cs typeface="DM Sans"/>
                <a:sym typeface="DM Sans"/>
              </a:defRPr>
            </a:lvl4pPr>
            <a:lvl5pPr lvl="4" algn="ctr">
              <a:buNone/>
              <a:defRPr sz="1300">
                <a:latin typeface="DM Sans"/>
                <a:ea typeface="DM Sans"/>
                <a:cs typeface="DM Sans"/>
                <a:sym typeface="DM Sans"/>
              </a:defRPr>
            </a:lvl5pPr>
            <a:lvl6pPr lvl="5" algn="ctr">
              <a:buNone/>
              <a:defRPr sz="1300">
                <a:latin typeface="DM Sans"/>
                <a:ea typeface="DM Sans"/>
                <a:cs typeface="DM Sans"/>
                <a:sym typeface="DM Sans"/>
              </a:defRPr>
            </a:lvl6pPr>
            <a:lvl7pPr lvl="6" algn="ctr">
              <a:buNone/>
              <a:defRPr sz="1300">
                <a:latin typeface="DM Sans"/>
                <a:ea typeface="DM Sans"/>
                <a:cs typeface="DM Sans"/>
                <a:sym typeface="DM Sans"/>
              </a:defRPr>
            </a:lvl7pPr>
            <a:lvl8pPr lvl="7" algn="ctr">
              <a:buNone/>
              <a:defRPr sz="1300">
                <a:latin typeface="DM Sans"/>
                <a:ea typeface="DM Sans"/>
                <a:cs typeface="DM Sans"/>
                <a:sym typeface="DM Sans"/>
              </a:defRPr>
            </a:lvl8pPr>
            <a:lvl9pPr lvl="8" algn="ctr">
              <a:buNone/>
              <a:defRPr sz="1300">
                <a:latin typeface="DM Sans"/>
                <a:ea typeface="DM Sans"/>
                <a:cs typeface="DM Sans"/>
                <a:sym typeface="DM Sans"/>
              </a:defRPr>
            </a:lvl9pPr>
          </a:lstStyle>
          <a:p>
            <a:pPr indent="0" lvl="0" marL="0" rtl="0" algn="ctr">
              <a:spcBef>
                <a:spcPts val="0"/>
              </a:spcBef>
              <a:spcAft>
                <a:spcPts val="0"/>
              </a:spcAft>
              <a:buNone/>
            </a:pPr>
            <a:fld id="{00000000-1234-1234-1234-123412341234}" type="slidenum">
              <a:rPr lang="en"/>
              <a:t>‹#›</a:t>
            </a:fld>
            <a:endParaRPr/>
          </a:p>
        </p:txBody>
      </p:sp>
      <p:sp>
        <p:nvSpPr>
          <p:cNvPr id="116" name="Google Shape;116;p5"/>
          <p:cNvSpPr txBox="1"/>
          <p:nvPr>
            <p:ph type="title"/>
          </p:nvPr>
        </p:nvSpPr>
        <p:spPr>
          <a:xfrm>
            <a:off x="457200" y="457200"/>
            <a:ext cx="8229600" cy="4229100"/>
          </a:xfrm>
          <a:prstGeom prst="rect">
            <a:avLst/>
          </a:prstGeom>
        </p:spPr>
        <p:txBody>
          <a:bodyPr anchorCtr="0" anchor="ctr" bIns="91425" lIns="91425" spcFirstLastPara="1" rIns="91425" wrap="square" tIns="91425">
            <a:normAutofit/>
          </a:bodyPr>
          <a:lstStyle>
            <a:lvl1pPr lvl="0" algn="ctr">
              <a:spcBef>
                <a:spcPts val="0"/>
              </a:spcBef>
              <a:spcAft>
                <a:spcPts val="0"/>
              </a:spcAft>
              <a:buClr>
                <a:srgbClr val="4C4F69"/>
              </a:buClr>
              <a:buSzPts val="2800"/>
              <a:buNone/>
              <a:defRPr>
                <a:solidFill>
                  <a:srgbClr val="4C4F69"/>
                </a:solidFill>
              </a:defRPr>
            </a:lvl1pPr>
            <a:lvl2pPr lvl="1" algn="ctr">
              <a:spcBef>
                <a:spcPts val="0"/>
              </a:spcBef>
              <a:spcAft>
                <a:spcPts val="0"/>
              </a:spcAft>
              <a:buClr>
                <a:srgbClr val="4C4F69"/>
              </a:buClr>
              <a:buSzPts val="2800"/>
              <a:buNone/>
              <a:defRPr>
                <a:solidFill>
                  <a:srgbClr val="4C4F69"/>
                </a:solidFill>
              </a:defRPr>
            </a:lvl2pPr>
            <a:lvl3pPr lvl="2" algn="ctr">
              <a:spcBef>
                <a:spcPts val="0"/>
              </a:spcBef>
              <a:spcAft>
                <a:spcPts val="0"/>
              </a:spcAft>
              <a:buClr>
                <a:srgbClr val="4C4F69"/>
              </a:buClr>
              <a:buSzPts val="2800"/>
              <a:buNone/>
              <a:defRPr>
                <a:solidFill>
                  <a:srgbClr val="4C4F69"/>
                </a:solidFill>
              </a:defRPr>
            </a:lvl3pPr>
            <a:lvl4pPr lvl="3" algn="ctr">
              <a:spcBef>
                <a:spcPts val="0"/>
              </a:spcBef>
              <a:spcAft>
                <a:spcPts val="0"/>
              </a:spcAft>
              <a:buClr>
                <a:srgbClr val="4C4F69"/>
              </a:buClr>
              <a:buSzPts val="2800"/>
              <a:buNone/>
              <a:defRPr>
                <a:solidFill>
                  <a:srgbClr val="4C4F69"/>
                </a:solidFill>
              </a:defRPr>
            </a:lvl4pPr>
            <a:lvl5pPr lvl="4" algn="ctr">
              <a:spcBef>
                <a:spcPts val="0"/>
              </a:spcBef>
              <a:spcAft>
                <a:spcPts val="0"/>
              </a:spcAft>
              <a:buClr>
                <a:srgbClr val="4C4F69"/>
              </a:buClr>
              <a:buSzPts val="2800"/>
              <a:buNone/>
              <a:defRPr>
                <a:solidFill>
                  <a:srgbClr val="4C4F69"/>
                </a:solidFill>
              </a:defRPr>
            </a:lvl5pPr>
            <a:lvl6pPr lvl="5" algn="ctr">
              <a:spcBef>
                <a:spcPts val="0"/>
              </a:spcBef>
              <a:spcAft>
                <a:spcPts val="0"/>
              </a:spcAft>
              <a:buClr>
                <a:srgbClr val="4C4F69"/>
              </a:buClr>
              <a:buSzPts val="2800"/>
              <a:buNone/>
              <a:defRPr>
                <a:solidFill>
                  <a:srgbClr val="4C4F69"/>
                </a:solidFill>
              </a:defRPr>
            </a:lvl6pPr>
            <a:lvl7pPr lvl="6" algn="ctr">
              <a:spcBef>
                <a:spcPts val="0"/>
              </a:spcBef>
              <a:spcAft>
                <a:spcPts val="0"/>
              </a:spcAft>
              <a:buClr>
                <a:srgbClr val="4C4F69"/>
              </a:buClr>
              <a:buSzPts val="2800"/>
              <a:buNone/>
              <a:defRPr>
                <a:solidFill>
                  <a:srgbClr val="4C4F69"/>
                </a:solidFill>
              </a:defRPr>
            </a:lvl7pPr>
            <a:lvl8pPr lvl="7" algn="ctr">
              <a:spcBef>
                <a:spcPts val="0"/>
              </a:spcBef>
              <a:spcAft>
                <a:spcPts val="0"/>
              </a:spcAft>
              <a:buClr>
                <a:srgbClr val="4C4F69"/>
              </a:buClr>
              <a:buSzPts val="2800"/>
              <a:buNone/>
              <a:defRPr>
                <a:solidFill>
                  <a:srgbClr val="4C4F69"/>
                </a:solidFill>
              </a:defRPr>
            </a:lvl8pPr>
            <a:lvl9pPr lvl="8" algn="ctr">
              <a:spcBef>
                <a:spcPts val="0"/>
              </a:spcBef>
              <a:spcAft>
                <a:spcPts val="0"/>
              </a:spcAft>
              <a:buClr>
                <a:srgbClr val="4C4F69"/>
              </a:buClr>
              <a:buSzPts val="2800"/>
              <a:buNone/>
              <a:defRPr>
                <a:solidFill>
                  <a:srgbClr val="4C4F69"/>
                </a:solidFill>
              </a:defRPr>
            </a:lvl9pPr>
          </a:lstStyle>
          <a:p/>
        </p:txBody>
      </p:sp>
      <p:sp>
        <p:nvSpPr>
          <p:cNvPr id="117" name="Google Shape;117;p5"/>
          <p:cNvSpPr/>
          <p:nvPr/>
        </p:nvSpPr>
        <p:spPr>
          <a:xfrm>
            <a:off x="7772400" y="0"/>
            <a:ext cx="914400" cy="457200"/>
          </a:xfrm>
          <a:prstGeom prst="rect">
            <a:avLst/>
          </a:prstGeom>
          <a:solidFill>
            <a:srgbClr val="EFF1F5"/>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rgbClr val="4C4F69"/>
                </a:solidFill>
                <a:latin typeface="DM Sans"/>
                <a:ea typeface="DM Sans"/>
                <a:cs typeface="DM Sans"/>
                <a:sym typeface="DM Sans"/>
              </a:rPr>
              <a:t>KCPC</a:t>
            </a:r>
            <a:endParaRPr sz="1600">
              <a:solidFill>
                <a:srgbClr val="4C4F69"/>
              </a:solidFill>
              <a:latin typeface="DM Sans"/>
              <a:ea typeface="DM Sans"/>
              <a:cs typeface="DM Sans"/>
              <a:sym typeface="DM Sans"/>
            </a:endParaRPr>
          </a:p>
        </p:txBody>
      </p:sp>
      <p:sp>
        <p:nvSpPr>
          <p:cNvPr id="118" name="Google Shape;118;p5"/>
          <p:cNvSpPr txBox="1"/>
          <p:nvPr/>
        </p:nvSpPr>
        <p:spPr>
          <a:xfrm>
            <a:off x="457200" y="4686300"/>
            <a:ext cx="28140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5C5F77"/>
                </a:solidFill>
                <a:latin typeface="DM Mono"/>
                <a:ea typeface="DM Mono"/>
                <a:cs typeface="DM Mono"/>
                <a:sym typeface="DM Mono"/>
              </a:rPr>
              <a:t>kcpc.orthant.co.uk</a:t>
            </a:r>
            <a:endParaRPr sz="1600">
              <a:solidFill>
                <a:srgbClr val="5C5F77"/>
              </a:solidFill>
              <a:latin typeface="DM Mono"/>
              <a:ea typeface="DM Mono"/>
              <a:cs typeface="DM Mono"/>
              <a:sym typeface="DM Mon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EFF1F5"/>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DM Sans"/>
              <a:buNone/>
              <a:defRPr sz="2800">
                <a:solidFill>
                  <a:schemeClr val="dk1"/>
                </a:solidFill>
                <a:latin typeface="DM Sans"/>
                <a:ea typeface="DM Sans"/>
                <a:cs typeface="DM Sans"/>
                <a:sym typeface="DM Sans"/>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DM Sans"/>
              <a:buChar char="●"/>
              <a:defRPr sz="1800">
                <a:solidFill>
                  <a:schemeClr val="dk2"/>
                </a:solidFill>
                <a:latin typeface="DM Sans"/>
                <a:ea typeface="DM Sans"/>
                <a:cs typeface="DM Sans"/>
                <a:sym typeface="DM Sans"/>
              </a:defRPr>
            </a:lvl1pPr>
            <a:lvl2pPr indent="-317500" lvl="1" marL="914400">
              <a:lnSpc>
                <a:spcPct val="115000"/>
              </a:lnSpc>
              <a:spcBef>
                <a:spcPts val="0"/>
              </a:spcBef>
              <a:spcAft>
                <a:spcPts val="0"/>
              </a:spcAft>
              <a:buClr>
                <a:schemeClr val="dk2"/>
              </a:buClr>
              <a:buSzPts val="1400"/>
              <a:buFont typeface="DM Sans"/>
              <a:buChar char="○"/>
              <a:defRPr>
                <a:solidFill>
                  <a:schemeClr val="dk2"/>
                </a:solidFill>
                <a:latin typeface="DM Sans"/>
                <a:ea typeface="DM Sans"/>
                <a:cs typeface="DM Sans"/>
                <a:sym typeface="DM Sans"/>
              </a:defRPr>
            </a:lvl2pPr>
            <a:lvl3pPr indent="-317500" lvl="2" marL="1371600">
              <a:lnSpc>
                <a:spcPct val="115000"/>
              </a:lnSpc>
              <a:spcBef>
                <a:spcPts val="0"/>
              </a:spcBef>
              <a:spcAft>
                <a:spcPts val="0"/>
              </a:spcAft>
              <a:buClr>
                <a:schemeClr val="dk2"/>
              </a:buClr>
              <a:buSzPts val="1400"/>
              <a:buFont typeface="DM Sans"/>
              <a:buChar char="■"/>
              <a:defRPr>
                <a:solidFill>
                  <a:schemeClr val="dk2"/>
                </a:solidFill>
                <a:latin typeface="DM Sans"/>
                <a:ea typeface="DM Sans"/>
                <a:cs typeface="DM Sans"/>
                <a:sym typeface="DM Sans"/>
              </a:defRPr>
            </a:lvl3pPr>
            <a:lvl4pPr indent="-317500" lvl="3" marL="1828800">
              <a:lnSpc>
                <a:spcPct val="115000"/>
              </a:lnSpc>
              <a:spcBef>
                <a:spcPts val="0"/>
              </a:spcBef>
              <a:spcAft>
                <a:spcPts val="0"/>
              </a:spcAft>
              <a:buClr>
                <a:schemeClr val="dk2"/>
              </a:buClr>
              <a:buSzPts val="1400"/>
              <a:buFont typeface="DM Sans"/>
              <a:buChar char="●"/>
              <a:defRPr>
                <a:solidFill>
                  <a:schemeClr val="dk2"/>
                </a:solidFill>
                <a:latin typeface="DM Sans"/>
                <a:ea typeface="DM Sans"/>
                <a:cs typeface="DM Sans"/>
                <a:sym typeface="DM Sans"/>
              </a:defRPr>
            </a:lvl4pPr>
            <a:lvl5pPr indent="-317500" lvl="4" marL="2286000">
              <a:lnSpc>
                <a:spcPct val="115000"/>
              </a:lnSpc>
              <a:spcBef>
                <a:spcPts val="0"/>
              </a:spcBef>
              <a:spcAft>
                <a:spcPts val="0"/>
              </a:spcAft>
              <a:buClr>
                <a:schemeClr val="dk2"/>
              </a:buClr>
              <a:buSzPts val="1400"/>
              <a:buFont typeface="DM Sans"/>
              <a:buChar char="○"/>
              <a:defRPr>
                <a:solidFill>
                  <a:schemeClr val="dk2"/>
                </a:solidFill>
                <a:latin typeface="DM Sans"/>
                <a:ea typeface="DM Sans"/>
                <a:cs typeface="DM Sans"/>
                <a:sym typeface="DM Sans"/>
              </a:defRPr>
            </a:lvl5pPr>
            <a:lvl6pPr indent="-317500" lvl="5" marL="2743200">
              <a:lnSpc>
                <a:spcPct val="115000"/>
              </a:lnSpc>
              <a:spcBef>
                <a:spcPts val="0"/>
              </a:spcBef>
              <a:spcAft>
                <a:spcPts val="0"/>
              </a:spcAft>
              <a:buClr>
                <a:schemeClr val="dk2"/>
              </a:buClr>
              <a:buSzPts val="1400"/>
              <a:buFont typeface="DM Sans"/>
              <a:buChar char="■"/>
              <a:defRPr>
                <a:solidFill>
                  <a:schemeClr val="dk2"/>
                </a:solidFill>
                <a:latin typeface="DM Sans"/>
                <a:ea typeface="DM Sans"/>
                <a:cs typeface="DM Sans"/>
                <a:sym typeface="DM Sans"/>
              </a:defRPr>
            </a:lvl6pPr>
            <a:lvl7pPr indent="-317500" lvl="6" marL="3200400">
              <a:lnSpc>
                <a:spcPct val="115000"/>
              </a:lnSpc>
              <a:spcBef>
                <a:spcPts val="0"/>
              </a:spcBef>
              <a:spcAft>
                <a:spcPts val="0"/>
              </a:spcAft>
              <a:buClr>
                <a:schemeClr val="dk2"/>
              </a:buClr>
              <a:buSzPts val="1400"/>
              <a:buFont typeface="DM Sans"/>
              <a:buChar char="●"/>
              <a:defRPr>
                <a:solidFill>
                  <a:schemeClr val="dk2"/>
                </a:solidFill>
                <a:latin typeface="DM Sans"/>
                <a:ea typeface="DM Sans"/>
                <a:cs typeface="DM Sans"/>
                <a:sym typeface="DM Sans"/>
              </a:defRPr>
            </a:lvl7pPr>
            <a:lvl8pPr indent="-317500" lvl="7" marL="3657600">
              <a:lnSpc>
                <a:spcPct val="115000"/>
              </a:lnSpc>
              <a:spcBef>
                <a:spcPts val="0"/>
              </a:spcBef>
              <a:spcAft>
                <a:spcPts val="0"/>
              </a:spcAft>
              <a:buClr>
                <a:schemeClr val="dk2"/>
              </a:buClr>
              <a:buSzPts val="1400"/>
              <a:buFont typeface="DM Sans"/>
              <a:buChar char="○"/>
              <a:defRPr>
                <a:solidFill>
                  <a:schemeClr val="dk2"/>
                </a:solidFill>
                <a:latin typeface="DM Sans"/>
                <a:ea typeface="DM Sans"/>
                <a:cs typeface="DM Sans"/>
                <a:sym typeface="DM Sans"/>
              </a:defRPr>
            </a:lvl8pPr>
            <a:lvl9pPr indent="-317500" lvl="8" marL="4114800">
              <a:lnSpc>
                <a:spcPct val="115000"/>
              </a:lnSpc>
              <a:spcBef>
                <a:spcPts val="0"/>
              </a:spcBef>
              <a:spcAft>
                <a:spcPts val="0"/>
              </a:spcAft>
              <a:buClr>
                <a:schemeClr val="dk2"/>
              </a:buClr>
              <a:buSzPts val="1400"/>
              <a:buFont typeface="DM Sans"/>
              <a:buChar char="■"/>
              <a:defRPr>
                <a:solidFill>
                  <a:schemeClr val="dk2"/>
                </a:solidFill>
                <a:latin typeface="DM Sans"/>
                <a:ea typeface="DM Sans"/>
                <a:cs typeface="DM Sans"/>
                <a:sym typeface="DM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6.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6"/>
          <p:cNvSpPr txBox="1"/>
          <p:nvPr>
            <p:ph type="ctrTitle"/>
          </p:nvPr>
        </p:nvSpPr>
        <p:spPr>
          <a:xfrm>
            <a:off x="457200" y="457200"/>
            <a:ext cx="8229600" cy="2800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More sophistication than banging our heads at problems</a:t>
            </a:r>
            <a:endParaRPr/>
          </a:p>
        </p:txBody>
      </p:sp>
      <p:sp>
        <p:nvSpPr>
          <p:cNvPr id="124" name="Google Shape;124;p6"/>
          <p:cNvSpPr txBox="1"/>
          <p:nvPr>
            <p:ph idx="1" type="subTitle"/>
          </p:nvPr>
        </p:nvSpPr>
        <p:spPr>
          <a:xfrm>
            <a:off x="457200" y="3257875"/>
            <a:ext cx="8229600" cy="142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Some T</a:t>
            </a:r>
            <a:r>
              <a:rPr lang="en"/>
              <a:t>echniques for Investigation</a:t>
            </a:r>
            <a:endParaRPr/>
          </a:p>
        </p:txBody>
      </p:sp>
      <p:sp>
        <p:nvSpPr>
          <p:cNvPr id="125" name="Google Shape;125;p6"/>
          <p:cNvSpPr txBox="1"/>
          <p:nvPr>
            <p:ph idx="12" type="sldNum"/>
          </p:nvPr>
        </p:nvSpPr>
        <p:spPr>
          <a:xfrm>
            <a:off x="8686847" y="4686425"/>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7"/>
          <p:cNvSpPr txBox="1"/>
          <p:nvPr>
            <p:ph type="title"/>
          </p:nvPr>
        </p:nvSpPr>
        <p:spPr>
          <a:xfrm>
            <a:off x="457200" y="457200"/>
            <a:ext cx="8229600" cy="10290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Workshop A</a:t>
            </a:r>
            <a:r>
              <a:rPr lang="en"/>
              <a:t>genda</a:t>
            </a:r>
            <a:endParaRPr/>
          </a:p>
        </p:txBody>
      </p:sp>
      <p:sp>
        <p:nvSpPr>
          <p:cNvPr id="131" name="Google Shape;131;p7"/>
          <p:cNvSpPr txBox="1"/>
          <p:nvPr>
            <p:ph idx="2" type="subTitle"/>
          </p:nvPr>
        </p:nvSpPr>
        <p:spPr>
          <a:xfrm>
            <a:off x="457200" y="1943425"/>
            <a:ext cx="8229600" cy="4572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a:t>Psychological strategies</a:t>
            </a:r>
            <a:endParaRPr/>
          </a:p>
        </p:txBody>
      </p:sp>
      <p:sp>
        <p:nvSpPr>
          <p:cNvPr id="132" name="Google Shape;132;p7"/>
          <p:cNvSpPr txBox="1"/>
          <p:nvPr>
            <p:ph idx="12" type="sldNum"/>
          </p:nvPr>
        </p:nvSpPr>
        <p:spPr>
          <a:xfrm>
            <a:off x="8686800" y="46864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133" name="Google Shape;133;p7"/>
          <p:cNvSpPr txBox="1"/>
          <p:nvPr>
            <p:ph idx="1" type="subTitle"/>
          </p:nvPr>
        </p:nvSpPr>
        <p:spPr>
          <a:xfrm>
            <a:off x="457200" y="1486250"/>
            <a:ext cx="8229600" cy="4572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a:t>What did we learn last week?</a:t>
            </a:r>
            <a:endParaRPr/>
          </a:p>
        </p:txBody>
      </p:sp>
      <p:sp>
        <p:nvSpPr>
          <p:cNvPr id="134" name="Google Shape;134;p7"/>
          <p:cNvSpPr txBox="1"/>
          <p:nvPr>
            <p:ph idx="3" type="subTitle"/>
          </p:nvPr>
        </p:nvSpPr>
        <p:spPr>
          <a:xfrm>
            <a:off x="457200" y="2857750"/>
            <a:ext cx="8229600" cy="4572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a:t>Some more problems and homework</a:t>
            </a:r>
            <a:endParaRPr/>
          </a:p>
        </p:txBody>
      </p:sp>
      <p:sp>
        <p:nvSpPr>
          <p:cNvPr id="135" name="Google Shape;135;p7"/>
          <p:cNvSpPr txBox="1"/>
          <p:nvPr>
            <p:ph idx="4" type="subTitle"/>
          </p:nvPr>
        </p:nvSpPr>
        <p:spPr>
          <a:xfrm>
            <a:off x="457200" y="2400700"/>
            <a:ext cx="8229600" cy="4572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a:t>Strategies for investigating problems</a:t>
            </a:r>
            <a:endParaRPr/>
          </a:p>
        </p:txBody>
      </p:sp>
      <p:sp>
        <p:nvSpPr>
          <p:cNvPr id="136" name="Google Shape;136;p7"/>
          <p:cNvSpPr txBox="1"/>
          <p:nvPr>
            <p:ph idx="5" type="subTitle"/>
          </p:nvPr>
        </p:nvSpPr>
        <p:spPr>
          <a:xfrm>
            <a:off x="457200" y="3314875"/>
            <a:ext cx="8229600" cy="4572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a:t>Final messages</a:t>
            </a:r>
            <a:endParaRPr/>
          </a:p>
        </p:txBody>
      </p:sp>
      <p:sp>
        <p:nvSpPr>
          <p:cNvPr id="137" name="Google Shape;137;p7"/>
          <p:cNvSpPr txBox="1"/>
          <p:nvPr>
            <p:ph idx="6" type="subTitle"/>
          </p:nvPr>
        </p:nvSpPr>
        <p:spPr>
          <a:xfrm>
            <a:off x="457200" y="3772050"/>
            <a:ext cx="8229600" cy="4572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t/>
            </a:r>
            <a:endParaRPr/>
          </a:p>
        </p:txBody>
      </p:sp>
      <p:sp>
        <p:nvSpPr>
          <p:cNvPr id="138" name="Google Shape;138;p7"/>
          <p:cNvSpPr txBox="1"/>
          <p:nvPr>
            <p:ph idx="7" type="subTitle"/>
          </p:nvPr>
        </p:nvSpPr>
        <p:spPr>
          <a:xfrm>
            <a:off x="457200" y="4229150"/>
            <a:ext cx="8229600" cy="4572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8"/>
          <p:cNvSpPr txBox="1"/>
          <p:nvPr>
            <p:ph idx="12" type="sldNum"/>
          </p:nvPr>
        </p:nvSpPr>
        <p:spPr>
          <a:xfrm>
            <a:off x="8686825" y="468625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144" name="Google Shape;144;p8"/>
          <p:cNvSpPr txBox="1"/>
          <p:nvPr>
            <p:ph type="title"/>
          </p:nvPr>
        </p:nvSpPr>
        <p:spPr>
          <a:xfrm>
            <a:off x="457200" y="457200"/>
            <a:ext cx="8229600" cy="4229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But first attendance…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9"/>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150" name="Google Shape;150;p9"/>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fontScale="92500" lnSpcReduction="20000"/>
          </a:bodyPr>
          <a:lstStyle/>
          <a:p>
            <a:pPr indent="0" lvl="0" marL="0" rtl="0" algn="l">
              <a:spcBef>
                <a:spcPts val="0"/>
              </a:spcBef>
              <a:spcAft>
                <a:spcPts val="0"/>
              </a:spcAft>
              <a:buNone/>
            </a:pPr>
            <a:r>
              <a:rPr lang="en"/>
              <a:t>Attendance</a:t>
            </a:r>
            <a:endParaRPr/>
          </a:p>
        </p:txBody>
      </p:sp>
      <p:pic>
        <p:nvPicPr>
          <p:cNvPr id="151" name="Google Shape;151;p9"/>
          <p:cNvPicPr preferRelativeResize="0"/>
          <p:nvPr/>
        </p:nvPicPr>
        <p:blipFill>
          <a:blip r:embed="rId3">
            <a:alphaModFix/>
          </a:blip>
          <a:stretch>
            <a:fillRect/>
          </a:stretch>
        </p:blipFill>
        <p:spPr>
          <a:xfrm>
            <a:off x="3143250" y="1365242"/>
            <a:ext cx="2857500" cy="2857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0"/>
          <p:cNvSpPr txBox="1"/>
          <p:nvPr>
            <p:ph idx="12" type="sldNum"/>
          </p:nvPr>
        </p:nvSpPr>
        <p:spPr>
          <a:xfrm>
            <a:off x="8686825" y="468625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157" name="Google Shape;157;p10"/>
          <p:cNvSpPr txBox="1"/>
          <p:nvPr>
            <p:ph type="title"/>
          </p:nvPr>
        </p:nvSpPr>
        <p:spPr>
          <a:xfrm>
            <a:off x="457200" y="457200"/>
            <a:ext cx="8229600" cy="4229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Oh, and also: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1"/>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163" name="Google Shape;163;p11"/>
          <p:cNvSpPr txBox="1"/>
          <p:nvPr>
            <p:ph idx="1" type="subTitle"/>
          </p:nvPr>
        </p:nvSpPr>
        <p:spPr>
          <a:xfrm>
            <a:off x="457200" y="467783"/>
            <a:ext cx="8229600" cy="457200"/>
          </a:xfrm>
          <a:prstGeom prst="rect">
            <a:avLst/>
          </a:prstGeom>
        </p:spPr>
        <p:txBody>
          <a:bodyPr anchorCtr="0" anchor="ctr" bIns="91425" lIns="91425" spcFirstLastPara="1" rIns="91425" wrap="square" tIns="91425">
            <a:normAutofit fontScale="92500" lnSpcReduction="20000"/>
          </a:bodyPr>
          <a:lstStyle/>
          <a:p>
            <a:pPr indent="0" lvl="0" marL="0" rtl="0" algn="l">
              <a:spcBef>
                <a:spcPts val="0"/>
              </a:spcBef>
              <a:spcAft>
                <a:spcPts val="0"/>
              </a:spcAft>
              <a:buNone/>
            </a:pPr>
            <a:r>
              <a:rPr lang="en"/>
              <a:t>Our Socials</a:t>
            </a:r>
            <a:endParaRPr/>
          </a:p>
        </p:txBody>
      </p:sp>
      <p:sp>
        <p:nvSpPr>
          <p:cNvPr id="164" name="Google Shape;164;p11"/>
          <p:cNvSpPr txBox="1"/>
          <p:nvPr>
            <p:ph idx="2" type="body"/>
          </p:nvPr>
        </p:nvSpPr>
        <p:spPr>
          <a:xfrm>
            <a:off x="457200" y="914400"/>
            <a:ext cx="8229600" cy="37719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a:latin typeface="DM Mono"/>
                <a:ea typeface="DM Mono"/>
                <a:cs typeface="DM Mono"/>
                <a:sym typeface="DM Mono"/>
              </a:rPr>
              <a:t>Instagram</a:t>
            </a:r>
            <a:endParaRPr>
              <a:latin typeface="DM Mono"/>
              <a:ea typeface="DM Mono"/>
              <a:cs typeface="DM Mono"/>
              <a:sym typeface="DM Mono"/>
            </a:endParaRPr>
          </a:p>
        </p:txBody>
      </p:sp>
      <p:sp>
        <p:nvSpPr>
          <p:cNvPr id="165" name="Google Shape;165;p11"/>
          <p:cNvSpPr txBox="1"/>
          <p:nvPr>
            <p:ph idx="2" type="body"/>
          </p:nvPr>
        </p:nvSpPr>
        <p:spPr>
          <a:xfrm>
            <a:off x="6401850" y="3900349"/>
            <a:ext cx="1668000" cy="5127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a:latin typeface="DM Mono"/>
                <a:ea typeface="DM Mono"/>
                <a:cs typeface="DM Mono"/>
                <a:sym typeface="DM Mono"/>
              </a:rPr>
              <a:t>Discord</a:t>
            </a:r>
            <a:endParaRPr>
              <a:latin typeface="DM Mono"/>
              <a:ea typeface="DM Mono"/>
              <a:cs typeface="DM Mono"/>
              <a:sym typeface="DM Mono"/>
            </a:endParaRPr>
          </a:p>
        </p:txBody>
      </p:sp>
      <p:sp>
        <p:nvSpPr>
          <p:cNvPr id="166" name="Google Shape;166;p11"/>
          <p:cNvSpPr txBox="1"/>
          <p:nvPr>
            <p:ph idx="2" type="body"/>
          </p:nvPr>
        </p:nvSpPr>
        <p:spPr>
          <a:xfrm>
            <a:off x="3738000" y="3900349"/>
            <a:ext cx="1668000" cy="5127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a:latin typeface="DM Mono"/>
                <a:ea typeface="DM Mono"/>
                <a:cs typeface="DM Mono"/>
                <a:sym typeface="DM Mono"/>
              </a:rPr>
              <a:t>WhatsApp</a:t>
            </a:r>
            <a:endParaRPr>
              <a:latin typeface="DM Mono"/>
              <a:ea typeface="DM Mono"/>
              <a:cs typeface="DM Mono"/>
              <a:sym typeface="DM Mono"/>
            </a:endParaRPr>
          </a:p>
        </p:txBody>
      </p:sp>
      <p:pic>
        <p:nvPicPr>
          <p:cNvPr id="167" name="Google Shape;167;p11" title="instagram.png"/>
          <p:cNvPicPr preferRelativeResize="0"/>
          <p:nvPr/>
        </p:nvPicPr>
        <p:blipFill>
          <a:blip r:embed="rId3">
            <a:alphaModFix/>
          </a:blip>
          <a:stretch>
            <a:fillRect/>
          </a:stretch>
        </p:blipFill>
        <p:spPr>
          <a:xfrm>
            <a:off x="867850" y="1452250"/>
            <a:ext cx="2238999" cy="2238999"/>
          </a:xfrm>
          <a:prstGeom prst="rect">
            <a:avLst/>
          </a:prstGeom>
          <a:noFill/>
          <a:ln>
            <a:noFill/>
          </a:ln>
        </p:spPr>
      </p:pic>
      <p:pic>
        <p:nvPicPr>
          <p:cNvPr id="168" name="Google Shape;168;p11" title="whatsapp.png"/>
          <p:cNvPicPr preferRelativeResize="0"/>
          <p:nvPr/>
        </p:nvPicPr>
        <p:blipFill>
          <a:blip r:embed="rId4">
            <a:alphaModFix/>
          </a:blip>
          <a:stretch>
            <a:fillRect/>
          </a:stretch>
        </p:blipFill>
        <p:spPr>
          <a:xfrm>
            <a:off x="3473042" y="1452250"/>
            <a:ext cx="2239001" cy="2239001"/>
          </a:xfrm>
          <a:prstGeom prst="rect">
            <a:avLst/>
          </a:prstGeom>
          <a:noFill/>
          <a:ln>
            <a:noFill/>
          </a:ln>
        </p:spPr>
      </p:pic>
      <p:pic>
        <p:nvPicPr>
          <p:cNvPr id="169" name="Google Shape;169;p11" title="discord.png"/>
          <p:cNvPicPr preferRelativeResize="0"/>
          <p:nvPr/>
        </p:nvPicPr>
        <p:blipFill>
          <a:blip r:embed="rId5">
            <a:alphaModFix/>
          </a:blip>
          <a:stretch>
            <a:fillRect/>
          </a:stretch>
        </p:blipFill>
        <p:spPr>
          <a:xfrm>
            <a:off x="6116350" y="1452250"/>
            <a:ext cx="2238999" cy="2238999"/>
          </a:xfrm>
          <a:prstGeom prst="rect">
            <a:avLst/>
          </a:prstGeom>
          <a:noFill/>
          <a:ln>
            <a:noFill/>
          </a:ln>
        </p:spPr>
      </p:pic>
      <p:sp>
        <p:nvSpPr>
          <p:cNvPr id="170" name="Google Shape;170;p11"/>
          <p:cNvSpPr txBox="1"/>
          <p:nvPr>
            <p:ph idx="2" type="body"/>
          </p:nvPr>
        </p:nvSpPr>
        <p:spPr>
          <a:xfrm>
            <a:off x="1153350" y="3900349"/>
            <a:ext cx="1668000" cy="5127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a:latin typeface="DM Mono"/>
                <a:ea typeface="DM Mono"/>
                <a:cs typeface="DM Mono"/>
                <a:sym typeface="DM Mono"/>
              </a:rPr>
              <a:t>Instagram</a:t>
            </a:r>
            <a:endParaRPr>
              <a:latin typeface="DM Mono"/>
              <a:ea typeface="DM Mono"/>
              <a:cs typeface="DM Mono"/>
              <a:sym typeface="DM Mon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2"/>
          <p:cNvSpPr txBox="1"/>
          <p:nvPr>
            <p:ph idx="12" type="sldNum"/>
          </p:nvPr>
        </p:nvSpPr>
        <p:spPr>
          <a:xfrm>
            <a:off x="8686825" y="468625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176" name="Google Shape;176;p12"/>
          <p:cNvSpPr txBox="1"/>
          <p:nvPr>
            <p:ph type="title"/>
          </p:nvPr>
        </p:nvSpPr>
        <p:spPr>
          <a:xfrm>
            <a:off x="457200" y="457200"/>
            <a:ext cx="8229600" cy="4229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What did we learn last week?</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3"/>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fontScale="92500" lnSpcReduction="20000"/>
          </a:bodyPr>
          <a:lstStyle/>
          <a:p>
            <a:pPr indent="0" lvl="0" marL="0" rtl="0" algn="l">
              <a:spcBef>
                <a:spcPts val="0"/>
              </a:spcBef>
              <a:spcAft>
                <a:spcPts val="0"/>
              </a:spcAft>
              <a:buNone/>
            </a:pPr>
            <a:r>
              <a:rPr lang="en"/>
              <a:t>What did we learn last week?</a:t>
            </a:r>
            <a:endParaRPr/>
          </a:p>
        </p:txBody>
      </p:sp>
      <p:sp>
        <p:nvSpPr>
          <p:cNvPr id="182" name="Google Shape;182;p13"/>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got our hands dirty.</a:t>
            </a:r>
            <a:endParaRPr/>
          </a:p>
          <a:p>
            <a:pPr indent="-355600" lvl="0" marL="457200" rtl="0" algn="l">
              <a:spcBef>
                <a:spcPts val="1200"/>
              </a:spcBef>
              <a:spcAft>
                <a:spcPts val="0"/>
              </a:spcAft>
              <a:buSzPts val="2000"/>
              <a:buChar char="→"/>
            </a:pPr>
            <a:r>
              <a:rPr lang="en"/>
              <a:t>Stay loose and experiment.</a:t>
            </a:r>
            <a:endParaRPr/>
          </a:p>
          <a:p>
            <a:pPr indent="-355600" lvl="0" marL="457200" rtl="0" algn="l">
              <a:spcBef>
                <a:spcPts val="0"/>
              </a:spcBef>
              <a:spcAft>
                <a:spcPts val="0"/>
              </a:spcAft>
              <a:buSzPts val="2000"/>
              <a:buChar char="→"/>
            </a:pPr>
            <a:r>
              <a:rPr lang="en"/>
              <a:t>Plug in lots of numbers.</a:t>
            </a:r>
            <a:endParaRPr/>
          </a:p>
          <a:p>
            <a:pPr indent="-355600" lvl="0" marL="457200" rtl="0" algn="l">
              <a:spcBef>
                <a:spcPts val="0"/>
              </a:spcBef>
              <a:spcAft>
                <a:spcPts val="0"/>
              </a:spcAft>
              <a:buSzPts val="2000"/>
              <a:buChar char="→"/>
            </a:pPr>
            <a:r>
              <a:rPr lang="en"/>
              <a:t>Keep playing around until you see a pattern.</a:t>
            </a:r>
            <a:endParaRPr/>
          </a:p>
          <a:p>
            <a:pPr indent="-355600" lvl="0" marL="457200" rtl="0" algn="l">
              <a:spcBef>
                <a:spcPts val="0"/>
              </a:spcBef>
              <a:spcAft>
                <a:spcPts val="0"/>
              </a:spcAft>
              <a:buSzPts val="2000"/>
              <a:buChar char="→"/>
            </a:pPr>
            <a:r>
              <a:rPr lang="en"/>
              <a:t>Then, play around some more, and try to figure out why the pattern you see is happening.</a:t>
            </a:r>
            <a:endParaRPr/>
          </a:p>
          <a:p>
            <a:pPr indent="0" lvl="0" marL="0" rtl="0" algn="l">
              <a:spcBef>
                <a:spcPts val="1200"/>
              </a:spcBef>
              <a:spcAft>
                <a:spcPts val="1200"/>
              </a:spcAft>
              <a:buNone/>
            </a:pPr>
            <a:r>
              <a:t/>
            </a:r>
            <a:endParaRPr/>
          </a:p>
        </p:txBody>
      </p:sp>
      <p:sp>
        <p:nvSpPr>
          <p:cNvPr id="183" name="Google Shape;183;p13"/>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4"/>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fontScale="92500" lnSpcReduction="20000"/>
          </a:bodyPr>
          <a:lstStyle/>
          <a:p>
            <a:pPr indent="0" lvl="0" marL="0" rtl="0" algn="l">
              <a:spcBef>
                <a:spcPts val="0"/>
              </a:spcBef>
              <a:spcAft>
                <a:spcPts val="0"/>
              </a:spcAft>
              <a:buNone/>
            </a:pPr>
            <a:r>
              <a:rPr lang="en"/>
              <a:t>What did we learn last week?</a:t>
            </a:r>
            <a:endParaRPr/>
          </a:p>
        </p:txBody>
      </p:sp>
      <p:sp>
        <p:nvSpPr>
          <p:cNvPr id="189" name="Google Shape;189;p14"/>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saw “problems” not “</a:t>
            </a:r>
            <a:r>
              <a:rPr lang="en"/>
              <a:t>exercises</a:t>
            </a:r>
            <a:r>
              <a:rPr lang="en"/>
              <a:t>”.</a:t>
            </a:r>
            <a:endParaRPr/>
          </a:p>
          <a:p>
            <a:pPr indent="-355600" lvl="0" marL="457200" rtl="0" algn="l">
              <a:spcBef>
                <a:spcPts val="1200"/>
              </a:spcBef>
              <a:spcAft>
                <a:spcPts val="0"/>
              </a:spcAft>
              <a:buSzPts val="2000"/>
              <a:buChar char="→"/>
            </a:pPr>
            <a:r>
              <a:rPr i="1" lang="en"/>
              <a:t>Exercises</a:t>
            </a:r>
            <a:r>
              <a:rPr lang="en"/>
              <a:t> are never puzzling, for it is always immediately clear how to proceed.</a:t>
            </a:r>
            <a:endParaRPr/>
          </a:p>
          <a:p>
            <a:pPr indent="-355600" lvl="0" marL="457200" rtl="0" algn="l">
              <a:spcBef>
                <a:spcPts val="0"/>
              </a:spcBef>
              <a:spcAft>
                <a:spcPts val="0"/>
              </a:spcAft>
              <a:buSzPts val="2000"/>
              <a:buChar char="→"/>
            </a:pPr>
            <a:r>
              <a:rPr lang="en"/>
              <a:t>A </a:t>
            </a:r>
            <a:r>
              <a:rPr i="1" lang="en"/>
              <a:t>problem</a:t>
            </a:r>
            <a:r>
              <a:rPr lang="en"/>
              <a:t> is a question that cannot be answered immediately.</a:t>
            </a:r>
            <a:endParaRPr/>
          </a:p>
          <a:p>
            <a:pPr indent="-355600" lvl="0" marL="457200" rtl="0" algn="l">
              <a:spcBef>
                <a:spcPts val="0"/>
              </a:spcBef>
              <a:spcAft>
                <a:spcPts val="0"/>
              </a:spcAft>
              <a:buSzPts val="2000"/>
              <a:buChar char="→"/>
            </a:pPr>
            <a:r>
              <a:rPr lang="en"/>
              <a:t>Problems are often open-ended, paradoxical, and sometimes unsolvable, and require </a:t>
            </a:r>
            <a:r>
              <a:rPr i="1" lang="en"/>
              <a:t>investigation</a:t>
            </a:r>
            <a:r>
              <a:rPr lang="en"/>
              <a:t> before one can come close to a solution.</a:t>
            </a:r>
            <a:endParaRPr/>
          </a:p>
        </p:txBody>
      </p:sp>
      <p:sp>
        <p:nvSpPr>
          <p:cNvPr id="190" name="Google Shape;190;p14"/>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5"/>
          <p:cNvSpPr txBox="1"/>
          <p:nvPr>
            <p:ph idx="12" type="sldNum"/>
          </p:nvPr>
        </p:nvSpPr>
        <p:spPr>
          <a:xfrm>
            <a:off x="8686825" y="468625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196" name="Google Shape;196;p15"/>
          <p:cNvSpPr txBox="1"/>
          <p:nvPr>
            <p:ph type="title"/>
          </p:nvPr>
        </p:nvSpPr>
        <p:spPr>
          <a:xfrm>
            <a:off x="457200" y="457200"/>
            <a:ext cx="8229600" cy="4229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sz="2000"/>
              <a:t>Psychological strategies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6"/>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a:t>We are not promising improvement in </a:t>
            </a:r>
            <a:r>
              <a:rPr i="1" lang="en"/>
              <a:t>solving</a:t>
            </a:r>
            <a:r>
              <a:rPr lang="en"/>
              <a:t> problems. That will come with time.</a:t>
            </a:r>
            <a:endParaRPr/>
          </a:p>
          <a:p>
            <a:pPr indent="-355600" lvl="0" marL="457200" rtl="0" algn="l">
              <a:spcBef>
                <a:spcPts val="0"/>
              </a:spcBef>
              <a:spcAft>
                <a:spcPts val="0"/>
              </a:spcAft>
              <a:buSzPts val="2000"/>
              <a:buChar char="→"/>
            </a:pPr>
            <a:r>
              <a:rPr lang="en"/>
              <a:t>But first you have to learn to </a:t>
            </a:r>
            <a:r>
              <a:rPr i="1" lang="en"/>
              <a:t>really</a:t>
            </a:r>
            <a:r>
              <a:rPr lang="en"/>
              <a:t> work.</a:t>
            </a:r>
            <a:endParaRPr/>
          </a:p>
          <a:p>
            <a:pPr indent="-355600" lvl="0" marL="457200" rtl="0" algn="l">
              <a:spcBef>
                <a:spcPts val="0"/>
              </a:spcBef>
              <a:spcAft>
                <a:spcPts val="0"/>
              </a:spcAft>
              <a:buSzPts val="2000"/>
              <a:buChar char="→"/>
            </a:pPr>
            <a:r>
              <a:rPr lang="en"/>
              <a:t>Mental T</a:t>
            </a:r>
            <a:r>
              <a:rPr lang="en"/>
              <a:t>oughness</a:t>
            </a:r>
            <a:endParaRPr/>
          </a:p>
          <a:p>
            <a:pPr indent="-355600" lvl="0" marL="457200" rtl="0" algn="l">
              <a:spcBef>
                <a:spcPts val="0"/>
              </a:spcBef>
              <a:spcAft>
                <a:spcPts val="0"/>
              </a:spcAft>
              <a:buSzPts val="2000"/>
              <a:buChar char="→"/>
            </a:pPr>
            <a:r>
              <a:rPr lang="en"/>
              <a:t>Creativity</a:t>
            </a:r>
            <a:endParaRPr/>
          </a:p>
        </p:txBody>
      </p:sp>
      <p:sp>
        <p:nvSpPr>
          <p:cNvPr id="202" name="Google Shape;202;p16"/>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203" name="Google Shape;203;p16"/>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sz="2000"/>
              <a:t>Psychological strategies</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7"/>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a:t>Don’t give up, nor bang your head on the wall.</a:t>
            </a:r>
            <a:endParaRPr/>
          </a:p>
          <a:p>
            <a:pPr indent="-355600" lvl="0" marL="457200" rtl="0" algn="l">
              <a:spcBef>
                <a:spcPts val="0"/>
              </a:spcBef>
              <a:spcAft>
                <a:spcPts val="0"/>
              </a:spcAft>
              <a:buSzPts val="2000"/>
              <a:buChar char="→"/>
            </a:pPr>
            <a:r>
              <a:rPr lang="en"/>
              <a:t>Vary each attempt.</a:t>
            </a:r>
            <a:endParaRPr/>
          </a:p>
          <a:p>
            <a:pPr indent="-355600" lvl="0" marL="457200" rtl="0" algn="l">
              <a:spcBef>
                <a:spcPts val="0"/>
              </a:spcBef>
              <a:spcAft>
                <a:spcPts val="0"/>
              </a:spcAft>
              <a:buSzPts val="2000"/>
              <a:buChar char="→"/>
            </a:pPr>
            <a:r>
              <a:rPr lang="en"/>
              <a:t>But: learn to know when to give up (</a:t>
            </a:r>
            <a:r>
              <a:rPr lang="en"/>
              <a:t>temporarily</a:t>
            </a:r>
            <a:r>
              <a:rPr lang="en"/>
              <a:t>!)</a:t>
            </a:r>
            <a:endParaRPr/>
          </a:p>
        </p:txBody>
      </p:sp>
      <p:sp>
        <p:nvSpPr>
          <p:cNvPr id="209" name="Google Shape;209;p17"/>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210" name="Google Shape;210;p17"/>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sz="2000"/>
              <a:t>Psychological strategies &gt; Mental toughness</a:t>
            </a:r>
            <a:endParaRPr sz="2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8"/>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a:t>Be the magic.</a:t>
            </a:r>
            <a:endParaRPr/>
          </a:p>
          <a:p>
            <a:pPr indent="-355600" lvl="0" marL="457200" rtl="0" algn="l">
              <a:spcBef>
                <a:spcPts val="0"/>
              </a:spcBef>
              <a:spcAft>
                <a:spcPts val="0"/>
              </a:spcAft>
              <a:buSzPts val="2000"/>
              <a:buChar char="→"/>
            </a:pPr>
            <a:r>
              <a:rPr lang="en"/>
              <a:t>Remember: Ants on a ruler problem</a:t>
            </a:r>
            <a:endParaRPr/>
          </a:p>
          <a:p>
            <a:pPr indent="-355600" lvl="0" marL="457200" rtl="0" algn="l">
              <a:spcBef>
                <a:spcPts val="0"/>
              </a:spcBef>
              <a:spcAft>
                <a:spcPts val="0"/>
              </a:spcAft>
              <a:buSzPts val="2000"/>
              <a:buChar char="→"/>
            </a:pPr>
            <a:r>
              <a:rPr lang="en"/>
              <a:t>From: “Wow! How did she think of that? I could never have done it.”</a:t>
            </a:r>
            <a:endParaRPr/>
          </a:p>
          <a:p>
            <a:pPr indent="-355600" lvl="0" marL="457200" rtl="0" algn="l">
              <a:spcBef>
                <a:spcPts val="0"/>
              </a:spcBef>
              <a:spcAft>
                <a:spcPts val="0"/>
              </a:spcAft>
              <a:buSzPts val="2000"/>
              <a:buChar char="→"/>
            </a:pPr>
            <a:r>
              <a:rPr lang="en"/>
              <a:t>To: “Nice idea! It’s similar to ones I’ve had. Let’s put it to work!”</a:t>
            </a:r>
            <a:endParaRPr/>
          </a:p>
          <a:p>
            <a:pPr indent="-355600" lvl="0" marL="457200" rtl="0" algn="l">
              <a:spcBef>
                <a:spcPts val="0"/>
              </a:spcBef>
              <a:spcAft>
                <a:spcPts val="0"/>
              </a:spcAft>
              <a:buSzPts val="2000"/>
              <a:buChar char="→"/>
            </a:pPr>
            <a:r>
              <a:rPr lang="en"/>
              <a:t>Stay loose.</a:t>
            </a:r>
            <a:endParaRPr/>
          </a:p>
          <a:p>
            <a:pPr indent="-355600" lvl="0" marL="457200" rtl="0" algn="l">
              <a:spcBef>
                <a:spcPts val="0"/>
              </a:spcBef>
              <a:spcAft>
                <a:spcPts val="0"/>
              </a:spcAft>
              <a:buSzPts val="2000"/>
              <a:buChar char="→"/>
            </a:pPr>
            <a:r>
              <a:rPr lang="en"/>
              <a:t>Cultivate a sort of mental peripheral vision.</a:t>
            </a:r>
            <a:endParaRPr/>
          </a:p>
        </p:txBody>
      </p:sp>
      <p:sp>
        <p:nvSpPr>
          <p:cNvPr id="216" name="Google Shape;216;p18"/>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217" name="Google Shape;217;p18"/>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sz="2000"/>
              <a:t>Psychological strategies &gt; Creativity</a:t>
            </a:r>
            <a:endParaRPr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9"/>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DM Mono"/>
                <a:ea typeface="DM Mono"/>
                <a:cs typeface="DM Mono"/>
                <a:sym typeface="DM Mono"/>
              </a:rPr>
              <a:t>Pat wants to take a 1.5-meter-long sword onto a train, but the conductor won’t allow it as carry-on luggage. And the baggage person won’t take any item whose greatest dimension exceeds 1 meter. What should Pat do?</a:t>
            </a:r>
            <a:endParaRPr>
              <a:latin typeface="DM Mono"/>
              <a:ea typeface="DM Mono"/>
              <a:cs typeface="DM Mono"/>
              <a:sym typeface="DM Mono"/>
            </a:endParaRPr>
          </a:p>
        </p:txBody>
      </p:sp>
      <p:sp>
        <p:nvSpPr>
          <p:cNvPr id="223" name="Google Shape;223;p19"/>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224" name="Google Shape;224;p19"/>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sz="2000"/>
              <a:t>Psychological strategies &gt; Creativity</a:t>
            </a:r>
            <a:endParaRPr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0"/>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latin typeface="DM Mono"/>
                <a:ea typeface="DM Mono"/>
                <a:cs typeface="DM Mono"/>
                <a:sym typeface="DM Mono"/>
              </a:rPr>
              <a:t>We have two polyhedra (i.e., solids with polygonal faces), all of whose edges have length 1: a pyramid with a square base, and a tetrahedron (a tetrahedron is composed of four triangular faces). Suppose we glue the two polyhedra together along a triangular face (so that the attached faces exactly overlap). How many faces does the new solid have?</a:t>
            </a:r>
            <a:endParaRPr>
              <a:latin typeface="DM Mono"/>
              <a:ea typeface="DM Mono"/>
              <a:cs typeface="DM Mono"/>
              <a:sym typeface="DM Mono"/>
            </a:endParaRPr>
          </a:p>
          <a:p>
            <a:pPr indent="0" lvl="0" marL="0" rtl="0" algn="l">
              <a:spcBef>
                <a:spcPts val="1200"/>
              </a:spcBef>
              <a:spcAft>
                <a:spcPts val="1200"/>
              </a:spcAft>
              <a:buNone/>
            </a:pPr>
            <a:r>
              <a:t/>
            </a:r>
            <a:endParaRPr>
              <a:latin typeface="DM Mono"/>
              <a:ea typeface="DM Mono"/>
              <a:cs typeface="DM Mono"/>
              <a:sym typeface="DM Mono"/>
            </a:endParaRPr>
          </a:p>
        </p:txBody>
      </p:sp>
      <p:sp>
        <p:nvSpPr>
          <p:cNvPr id="230" name="Google Shape;230;p20"/>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231" name="Google Shape;231;p20"/>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sz="2000"/>
              <a:t>Psychological strategies &gt; Creativity</a:t>
            </a:r>
            <a:endParaRPr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1"/>
          <p:cNvSpPr txBox="1"/>
          <p:nvPr>
            <p:ph idx="12" type="sldNum"/>
          </p:nvPr>
        </p:nvSpPr>
        <p:spPr>
          <a:xfrm>
            <a:off x="8686825" y="468625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237" name="Google Shape;237;p21"/>
          <p:cNvSpPr txBox="1"/>
          <p:nvPr>
            <p:ph type="title"/>
          </p:nvPr>
        </p:nvSpPr>
        <p:spPr>
          <a:xfrm>
            <a:off x="457200" y="457200"/>
            <a:ext cx="8229600" cy="4229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a:t>
            </a:r>
            <a:r>
              <a:rPr lang="en"/>
              <a:t>trategies for investigating problems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2"/>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243" name="Google Shape;243;p22"/>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sz="2000"/>
              <a:t>Strategies for investigating problems</a:t>
            </a:r>
            <a:endParaRPr sz="2000"/>
          </a:p>
        </p:txBody>
      </p:sp>
      <p:sp>
        <p:nvSpPr>
          <p:cNvPr id="244" name="Google Shape;244;p22"/>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a:t>Simple ideas, but will allow you to make encouraging progress.</a:t>
            </a:r>
            <a:endParaRPr/>
          </a:p>
          <a:p>
            <a:pPr indent="-355600" lvl="0" marL="457200" rtl="0" algn="l">
              <a:spcBef>
                <a:spcPts val="0"/>
              </a:spcBef>
              <a:spcAft>
                <a:spcPts val="0"/>
              </a:spcAft>
              <a:buSzPts val="2000"/>
              <a:buChar char="→"/>
            </a:pPr>
            <a:r>
              <a:rPr lang="en"/>
              <a:t>The investigation: Discover what is going on.</a:t>
            </a:r>
            <a:endParaRPr/>
          </a:p>
          <a:p>
            <a:pPr indent="-330200" lvl="1" marL="914400" rtl="0" algn="l">
              <a:spcBef>
                <a:spcPts val="0"/>
              </a:spcBef>
              <a:spcAft>
                <a:spcPts val="0"/>
              </a:spcAft>
              <a:buSzPts val="1600"/>
              <a:buChar char="○"/>
            </a:pPr>
            <a:r>
              <a:rPr lang="en"/>
              <a:t>Go make some observations.</a:t>
            </a:r>
            <a:endParaRPr/>
          </a:p>
          <a:p>
            <a:pPr indent="-330200" lvl="1" marL="914400" rtl="0" algn="l">
              <a:spcBef>
                <a:spcPts val="0"/>
              </a:spcBef>
              <a:spcAft>
                <a:spcPts val="0"/>
              </a:spcAft>
              <a:buSzPts val="1600"/>
              <a:buChar char="○"/>
            </a:pPr>
            <a:r>
              <a:rPr lang="en"/>
              <a:t>List them out.</a:t>
            </a:r>
            <a:endParaRPr/>
          </a:p>
          <a:p>
            <a:pPr indent="-355600" lvl="0" marL="457200" rtl="0" algn="l">
              <a:spcBef>
                <a:spcPts val="0"/>
              </a:spcBef>
              <a:spcAft>
                <a:spcPts val="0"/>
              </a:spcAft>
              <a:buSzPts val="2000"/>
              <a:buChar char="→"/>
            </a:pPr>
            <a:r>
              <a:rPr lang="en"/>
              <a:t>Argument: Convince yourself (or others) of your discoveries.</a:t>
            </a:r>
            <a:endParaRPr/>
          </a:p>
          <a:p>
            <a:pPr indent="-330200" lvl="1" marL="914400" rtl="0" algn="l">
              <a:spcBef>
                <a:spcPts val="0"/>
              </a:spcBef>
              <a:spcAft>
                <a:spcPts val="0"/>
              </a:spcAft>
              <a:buSzPts val="1600"/>
              <a:buChar char="○"/>
            </a:pPr>
            <a:r>
              <a:rPr lang="en"/>
              <a:t>There is an easy way in competitive programming...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23"/>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a:t>Ask yourself, “What is it about the problem that makes it hard?” Then, make the diﬃculty disappear!</a:t>
            </a:r>
            <a:endParaRPr/>
          </a:p>
          <a:p>
            <a:pPr indent="-355600" lvl="0" marL="457200" rtl="0" algn="l">
              <a:spcBef>
                <a:spcPts val="0"/>
              </a:spcBef>
              <a:spcAft>
                <a:spcPts val="0"/>
              </a:spcAft>
              <a:buSzPts val="2000"/>
              <a:buChar char="→"/>
            </a:pPr>
            <a:r>
              <a:rPr lang="en"/>
              <a:t>You may not be able to do this </a:t>
            </a:r>
            <a:r>
              <a:rPr i="1" lang="en"/>
              <a:t>legally</a:t>
            </a:r>
            <a:r>
              <a:rPr lang="en"/>
              <a:t>, but who cares?</a:t>
            </a:r>
            <a:endParaRPr/>
          </a:p>
          <a:p>
            <a:pPr indent="-355600" lvl="0" marL="457200" rtl="0" algn="l">
              <a:spcBef>
                <a:spcPts val="0"/>
              </a:spcBef>
              <a:spcAft>
                <a:spcPts val="0"/>
              </a:spcAft>
              <a:buSzPts val="2000"/>
              <a:buChar char="→"/>
            </a:pPr>
            <a:r>
              <a:rPr lang="en"/>
              <a:t>Eliminating the hard part of a problem, even temporarily, will allow you to have some fun and raise your confidence.</a:t>
            </a:r>
            <a:endParaRPr/>
          </a:p>
          <a:p>
            <a:pPr indent="-355600" lvl="0" marL="457200" rtl="0" algn="l">
              <a:spcBef>
                <a:spcPts val="0"/>
              </a:spcBef>
              <a:spcAft>
                <a:spcPts val="0"/>
              </a:spcAft>
              <a:buSzPts val="2000"/>
              <a:buChar char="→"/>
            </a:pPr>
            <a:r>
              <a:rPr lang="en"/>
              <a:t>Make some progress with its easier cousin!</a:t>
            </a:r>
            <a:endParaRPr/>
          </a:p>
        </p:txBody>
      </p:sp>
      <p:sp>
        <p:nvSpPr>
          <p:cNvPr id="250" name="Google Shape;250;p23"/>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251" name="Google Shape;251;p23"/>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fontScale="92500" lnSpcReduction="10000"/>
          </a:bodyPr>
          <a:lstStyle/>
          <a:p>
            <a:pPr indent="0" lvl="0" marL="0" rtl="0" algn="l">
              <a:spcBef>
                <a:spcPts val="0"/>
              </a:spcBef>
              <a:spcAft>
                <a:spcPts val="0"/>
              </a:spcAft>
              <a:buNone/>
            </a:pPr>
            <a:r>
              <a:rPr lang="en" sz="2000"/>
              <a:t>Strategies for investigating problems &gt; Wishful thinking/Make it easier</a:t>
            </a:r>
            <a:endParaRPr sz="2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4"/>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2400">
                <a:latin typeface="DM Mono"/>
                <a:ea typeface="DM Mono"/>
                <a:cs typeface="DM Mono"/>
                <a:sym typeface="DM Mono"/>
              </a:rPr>
              <a:t>The sequence </a:t>
            </a:r>
            <a:r>
              <a:rPr i="1" lang="en" sz="2400">
                <a:latin typeface="DM Mono"/>
                <a:ea typeface="DM Mono"/>
                <a:cs typeface="DM Mono"/>
                <a:sym typeface="DM Mono"/>
              </a:rPr>
              <a:t>a</a:t>
            </a:r>
            <a:r>
              <a:rPr baseline="-25000" lang="en" sz="2400">
                <a:latin typeface="DM Mono"/>
                <a:ea typeface="DM Mono"/>
                <a:cs typeface="DM Mono"/>
                <a:sym typeface="DM Mono"/>
              </a:rPr>
              <a:t>0</a:t>
            </a:r>
            <a:r>
              <a:rPr lang="en" sz="2400">
                <a:latin typeface="DM Mono"/>
                <a:ea typeface="DM Mono"/>
                <a:cs typeface="DM Mono"/>
                <a:sym typeface="DM Mono"/>
              </a:rPr>
              <a:t>, </a:t>
            </a:r>
            <a:r>
              <a:rPr i="1" lang="en" sz="2400">
                <a:latin typeface="DM Mono"/>
                <a:ea typeface="DM Mono"/>
                <a:cs typeface="DM Mono"/>
                <a:sym typeface="DM Mono"/>
              </a:rPr>
              <a:t>a</a:t>
            </a:r>
            <a:r>
              <a:rPr baseline="-25000" lang="en" sz="2400">
                <a:latin typeface="DM Mono"/>
                <a:ea typeface="DM Mono"/>
                <a:cs typeface="DM Mono"/>
                <a:sym typeface="DM Mono"/>
              </a:rPr>
              <a:t>1</a:t>
            </a:r>
            <a:r>
              <a:rPr lang="en" sz="2400">
                <a:latin typeface="DM Mono"/>
                <a:ea typeface="DM Mono"/>
                <a:cs typeface="DM Mono"/>
                <a:sym typeface="DM Mono"/>
              </a:rPr>
              <a:t>, </a:t>
            </a:r>
            <a:r>
              <a:rPr i="1" lang="en" sz="2400">
                <a:latin typeface="DM Mono"/>
                <a:ea typeface="DM Mono"/>
                <a:cs typeface="DM Mono"/>
                <a:sym typeface="DM Mono"/>
              </a:rPr>
              <a:t>a</a:t>
            </a:r>
            <a:r>
              <a:rPr baseline="-25000" lang="en" sz="2400">
                <a:latin typeface="DM Mono"/>
                <a:ea typeface="DM Mono"/>
                <a:cs typeface="DM Mono"/>
                <a:sym typeface="DM Mono"/>
              </a:rPr>
              <a:t>2</a:t>
            </a:r>
            <a:r>
              <a:rPr lang="en" sz="2400">
                <a:latin typeface="DM Mono"/>
                <a:ea typeface="DM Mono"/>
                <a:cs typeface="DM Mono"/>
                <a:sym typeface="DM Mono"/>
              </a:rPr>
              <a:t>, ... satisfies</a:t>
            </a:r>
            <a:endParaRPr sz="2400">
              <a:latin typeface="DM Mono"/>
              <a:ea typeface="DM Mono"/>
              <a:cs typeface="DM Mono"/>
              <a:sym typeface="DM Mono"/>
            </a:endParaRPr>
          </a:p>
          <a:p>
            <a:pPr indent="457200" lvl="0" marL="0" rtl="0" algn="l">
              <a:spcBef>
                <a:spcPts val="1200"/>
              </a:spcBef>
              <a:spcAft>
                <a:spcPts val="0"/>
              </a:spcAft>
              <a:buClr>
                <a:schemeClr val="dk1"/>
              </a:buClr>
              <a:buSzPts val="1100"/>
              <a:buFont typeface="Arial"/>
              <a:buNone/>
            </a:pPr>
            <a:r>
              <a:rPr i="1" lang="en" sz="2400">
                <a:latin typeface="DM Mono"/>
                <a:ea typeface="DM Mono"/>
                <a:cs typeface="DM Mono"/>
                <a:sym typeface="DM Mono"/>
              </a:rPr>
              <a:t>a</a:t>
            </a:r>
            <a:r>
              <a:rPr baseline="-25000" lang="en" sz="2400">
                <a:latin typeface="DM Mono"/>
                <a:ea typeface="DM Mono"/>
                <a:cs typeface="DM Mono"/>
                <a:sym typeface="DM Mono"/>
              </a:rPr>
              <a:t>m+n</a:t>
            </a:r>
            <a:r>
              <a:rPr lang="en" sz="2400">
                <a:latin typeface="DM Mono"/>
                <a:ea typeface="DM Mono"/>
                <a:cs typeface="DM Mono"/>
                <a:sym typeface="DM Mono"/>
              </a:rPr>
              <a:t> + </a:t>
            </a:r>
            <a:r>
              <a:rPr i="1" lang="en" sz="2400">
                <a:latin typeface="DM Mono"/>
                <a:ea typeface="DM Mono"/>
                <a:cs typeface="DM Mono"/>
                <a:sym typeface="DM Mono"/>
              </a:rPr>
              <a:t>a</a:t>
            </a:r>
            <a:r>
              <a:rPr baseline="-25000" lang="en" sz="2400">
                <a:latin typeface="DM Mono"/>
                <a:ea typeface="DM Mono"/>
                <a:cs typeface="DM Mono"/>
                <a:sym typeface="DM Mono"/>
              </a:rPr>
              <a:t>m-n</a:t>
            </a:r>
            <a:r>
              <a:rPr lang="en" sz="2400">
                <a:latin typeface="DM Mono"/>
                <a:ea typeface="DM Mono"/>
                <a:cs typeface="DM Mono"/>
                <a:sym typeface="DM Mono"/>
              </a:rPr>
              <a:t> = 1/2 * (</a:t>
            </a:r>
            <a:r>
              <a:rPr i="1" lang="en" sz="2400">
                <a:latin typeface="DM Mono"/>
                <a:ea typeface="DM Mono"/>
                <a:cs typeface="DM Mono"/>
                <a:sym typeface="DM Mono"/>
              </a:rPr>
              <a:t>a</a:t>
            </a:r>
            <a:r>
              <a:rPr baseline="-25000" lang="en" sz="2400">
                <a:latin typeface="DM Mono"/>
                <a:ea typeface="DM Mono"/>
                <a:cs typeface="DM Mono"/>
                <a:sym typeface="DM Mono"/>
              </a:rPr>
              <a:t>2m</a:t>
            </a:r>
            <a:r>
              <a:rPr lang="en" sz="2400">
                <a:latin typeface="DM Mono"/>
                <a:ea typeface="DM Mono"/>
                <a:cs typeface="DM Mono"/>
                <a:sym typeface="DM Mono"/>
              </a:rPr>
              <a:t> + </a:t>
            </a:r>
            <a:r>
              <a:rPr i="1" lang="en" sz="2400">
                <a:latin typeface="DM Mono"/>
                <a:ea typeface="DM Mono"/>
                <a:cs typeface="DM Mono"/>
                <a:sym typeface="DM Mono"/>
              </a:rPr>
              <a:t>a</a:t>
            </a:r>
            <a:r>
              <a:rPr baseline="-25000" lang="en" sz="2400">
                <a:latin typeface="DM Mono"/>
                <a:ea typeface="DM Mono"/>
                <a:cs typeface="DM Mono"/>
                <a:sym typeface="DM Mono"/>
              </a:rPr>
              <a:t>2n</a:t>
            </a:r>
            <a:r>
              <a:rPr lang="en" sz="2400">
                <a:latin typeface="DM Mono"/>
                <a:ea typeface="DM Mono"/>
                <a:cs typeface="DM Mono"/>
                <a:sym typeface="DM Mono"/>
              </a:rPr>
              <a:t>)</a:t>
            </a:r>
            <a:endParaRPr sz="2400">
              <a:latin typeface="DM Mono"/>
              <a:ea typeface="DM Mono"/>
              <a:cs typeface="DM Mono"/>
              <a:sym typeface="DM Mono"/>
            </a:endParaRPr>
          </a:p>
          <a:p>
            <a:pPr indent="0" lvl="0" marL="0" rtl="0" algn="l">
              <a:spcBef>
                <a:spcPts val="1200"/>
              </a:spcBef>
              <a:spcAft>
                <a:spcPts val="1200"/>
              </a:spcAft>
              <a:buNone/>
            </a:pPr>
            <a:r>
              <a:rPr lang="en" sz="2400">
                <a:latin typeface="DM Mono"/>
                <a:ea typeface="DM Mono"/>
                <a:cs typeface="DM Mono"/>
                <a:sym typeface="DM Mono"/>
              </a:rPr>
              <a:t>for all non-negative integers m and n with m &gt;= n. If </a:t>
            </a:r>
            <a:r>
              <a:rPr i="1" lang="en" sz="2400">
                <a:latin typeface="DM Mono"/>
                <a:ea typeface="DM Mono"/>
                <a:cs typeface="DM Mono"/>
                <a:sym typeface="DM Mono"/>
              </a:rPr>
              <a:t>a</a:t>
            </a:r>
            <a:r>
              <a:rPr baseline="-25000" lang="en" sz="2400">
                <a:latin typeface="DM Mono"/>
                <a:ea typeface="DM Mono"/>
                <a:cs typeface="DM Mono"/>
                <a:sym typeface="DM Mono"/>
              </a:rPr>
              <a:t>1</a:t>
            </a:r>
            <a:r>
              <a:rPr lang="en" sz="2400">
                <a:latin typeface="DM Mono"/>
                <a:ea typeface="DM Mono"/>
                <a:cs typeface="DM Mono"/>
                <a:sym typeface="DM Mono"/>
              </a:rPr>
              <a:t> = 1, determine </a:t>
            </a:r>
            <a:r>
              <a:rPr i="1" lang="en" sz="2400">
                <a:latin typeface="DM Mono"/>
                <a:ea typeface="DM Mono"/>
                <a:cs typeface="DM Mono"/>
                <a:sym typeface="DM Mono"/>
              </a:rPr>
              <a:t>a</a:t>
            </a:r>
            <a:r>
              <a:rPr baseline="-25000" lang="en" sz="2400">
                <a:latin typeface="DM Mono"/>
                <a:ea typeface="DM Mono"/>
                <a:cs typeface="DM Mono"/>
                <a:sym typeface="DM Mono"/>
              </a:rPr>
              <a:t>6767</a:t>
            </a:r>
            <a:r>
              <a:rPr lang="en" sz="2400">
                <a:latin typeface="DM Mono"/>
                <a:ea typeface="DM Mono"/>
                <a:cs typeface="DM Mono"/>
                <a:sym typeface="DM Mono"/>
              </a:rPr>
              <a:t>.</a:t>
            </a:r>
            <a:endParaRPr sz="2400">
              <a:latin typeface="DM Mono"/>
              <a:ea typeface="DM Mono"/>
              <a:cs typeface="DM Mono"/>
              <a:sym typeface="DM Mono"/>
            </a:endParaRPr>
          </a:p>
        </p:txBody>
      </p:sp>
      <p:sp>
        <p:nvSpPr>
          <p:cNvPr id="257" name="Google Shape;257;p24"/>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258" name="Google Shape;258;p24"/>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fontScale="92500" lnSpcReduction="10000"/>
          </a:bodyPr>
          <a:lstStyle/>
          <a:p>
            <a:pPr indent="0" lvl="0" marL="0" rtl="0" algn="l">
              <a:spcBef>
                <a:spcPts val="0"/>
              </a:spcBef>
              <a:spcAft>
                <a:spcPts val="0"/>
              </a:spcAft>
              <a:buNone/>
            </a:pPr>
            <a:r>
              <a:rPr lang="en" sz="2000"/>
              <a:t>Strategies for investigating problems &gt; Wishful thinking/Make it easier</a:t>
            </a:r>
            <a:endParaRPr sz="20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5"/>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DM Mono"/>
                <a:ea typeface="DM Mono"/>
                <a:cs typeface="DM Mono"/>
                <a:sym typeface="DM Mono"/>
              </a:rPr>
              <a:t>Let N denote the natural numbers 1, 2, 3, 4, ... Consider a function </a:t>
            </a:r>
            <a:r>
              <a:rPr i="1" lang="en">
                <a:latin typeface="DM Mono"/>
                <a:ea typeface="DM Mono"/>
                <a:cs typeface="DM Mono"/>
                <a:sym typeface="DM Mono"/>
              </a:rPr>
              <a:t>f</a:t>
            </a:r>
            <a:r>
              <a:rPr lang="en">
                <a:latin typeface="DM Mono"/>
                <a:ea typeface="DM Mono"/>
                <a:cs typeface="DM Mono"/>
                <a:sym typeface="DM Mono"/>
              </a:rPr>
              <a:t> that satisfies </a:t>
            </a:r>
            <a:r>
              <a:rPr i="1" lang="en">
                <a:latin typeface="DM Mono"/>
                <a:ea typeface="DM Mono"/>
                <a:cs typeface="DM Mono"/>
                <a:sym typeface="DM Mono"/>
              </a:rPr>
              <a:t>f</a:t>
            </a:r>
            <a:r>
              <a:rPr lang="en">
                <a:latin typeface="DM Mono"/>
                <a:ea typeface="DM Mono"/>
                <a:cs typeface="DM Mono"/>
                <a:sym typeface="DM Mono"/>
              </a:rPr>
              <a:t>(1) = 1, </a:t>
            </a:r>
            <a:r>
              <a:rPr i="1" lang="en">
                <a:latin typeface="DM Mono"/>
                <a:ea typeface="DM Mono"/>
                <a:cs typeface="DM Mono"/>
                <a:sym typeface="DM Mono"/>
              </a:rPr>
              <a:t>f</a:t>
            </a:r>
            <a:r>
              <a:rPr lang="en">
                <a:latin typeface="DM Mono"/>
                <a:ea typeface="DM Mono"/>
                <a:cs typeface="DM Mono"/>
                <a:sym typeface="DM Mono"/>
              </a:rPr>
              <a:t>(2n) = </a:t>
            </a:r>
            <a:r>
              <a:rPr i="1" lang="en">
                <a:latin typeface="DM Mono"/>
                <a:ea typeface="DM Mono"/>
                <a:cs typeface="DM Mono"/>
                <a:sym typeface="DM Mono"/>
              </a:rPr>
              <a:t>f</a:t>
            </a:r>
            <a:r>
              <a:rPr lang="en">
                <a:latin typeface="DM Mono"/>
                <a:ea typeface="DM Mono"/>
                <a:cs typeface="DM Mono"/>
                <a:sym typeface="DM Mono"/>
              </a:rPr>
              <a:t>(n) and </a:t>
            </a:r>
            <a:r>
              <a:rPr i="1" lang="en">
                <a:latin typeface="DM Mono"/>
                <a:ea typeface="DM Mono"/>
                <a:cs typeface="DM Mono"/>
                <a:sym typeface="DM Mono"/>
              </a:rPr>
              <a:t>f</a:t>
            </a:r>
            <a:r>
              <a:rPr lang="en">
                <a:latin typeface="DM Mono"/>
                <a:ea typeface="DM Mono"/>
                <a:cs typeface="DM Mono"/>
                <a:sym typeface="DM Mono"/>
              </a:rPr>
              <a:t>(2n + 1) = f(2n) + 1 for all n ∈ N. Find a nice simple algorithm for </a:t>
            </a:r>
            <a:r>
              <a:rPr i="1" lang="en">
                <a:latin typeface="DM Mono"/>
                <a:ea typeface="DM Mono"/>
                <a:cs typeface="DM Mono"/>
                <a:sym typeface="DM Mono"/>
              </a:rPr>
              <a:t>f</a:t>
            </a:r>
            <a:r>
              <a:rPr lang="en">
                <a:latin typeface="DM Mono"/>
                <a:ea typeface="DM Mono"/>
                <a:cs typeface="DM Mono"/>
                <a:sym typeface="DM Mono"/>
              </a:rPr>
              <a:t>(n). Your algorithm should be a single sentence long, at most.</a:t>
            </a:r>
            <a:endParaRPr>
              <a:latin typeface="DM Mono"/>
              <a:ea typeface="DM Mono"/>
              <a:cs typeface="DM Mono"/>
              <a:sym typeface="DM Mono"/>
            </a:endParaRPr>
          </a:p>
        </p:txBody>
      </p:sp>
      <p:sp>
        <p:nvSpPr>
          <p:cNvPr id="264" name="Google Shape;264;p25"/>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265" name="Google Shape;265;p25"/>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fontScale="92500" lnSpcReduction="10000"/>
          </a:bodyPr>
          <a:lstStyle/>
          <a:p>
            <a:pPr indent="0" lvl="0" marL="0" rtl="0" algn="l">
              <a:spcBef>
                <a:spcPts val="0"/>
              </a:spcBef>
              <a:spcAft>
                <a:spcPts val="0"/>
              </a:spcAft>
              <a:buNone/>
            </a:pPr>
            <a:r>
              <a:rPr lang="en" sz="2000"/>
              <a:t>Strategies for investigating problems &gt; Wishful thinking/Make it easier</a:t>
            </a:r>
            <a:endParaRPr sz="2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6"/>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271" name="Google Shape;271;p26"/>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sz="2000"/>
              <a:t>Strategies for investigating problems &gt; Induction</a:t>
            </a:r>
            <a:endParaRPr sz="2000"/>
          </a:p>
        </p:txBody>
      </p:sp>
      <p:sp>
        <p:nvSpPr>
          <p:cNvPr id="272" name="Google Shape;272;p26"/>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a:t>This is a very powerful method for proving assertions that are “indexed” by integers.</a:t>
            </a:r>
            <a:endParaRPr/>
          </a:p>
          <a:p>
            <a:pPr indent="-355600" lvl="0" marL="457200" rtl="0" algn="l">
              <a:spcBef>
                <a:spcPts val="0"/>
              </a:spcBef>
              <a:spcAft>
                <a:spcPts val="0"/>
              </a:spcAft>
              <a:buSzPts val="2000"/>
              <a:buChar char="→"/>
            </a:pPr>
            <a:r>
              <a:rPr lang="en"/>
              <a:t>Prove the base case.</a:t>
            </a:r>
            <a:endParaRPr/>
          </a:p>
          <a:p>
            <a:pPr indent="-355600" lvl="0" marL="457200" rtl="0" algn="l">
              <a:spcBef>
                <a:spcPts val="0"/>
              </a:spcBef>
              <a:spcAft>
                <a:spcPts val="0"/>
              </a:spcAft>
              <a:buSzPts val="2000"/>
              <a:buChar char="→"/>
            </a:pPr>
            <a:r>
              <a:rPr lang="en"/>
              <a:t>Find a direct assertion from n -&gt; n + 1.</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7"/>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278" name="Google Shape;278;p27"/>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sz="2000"/>
              <a:t>Strategies for investigating problems &gt; Induction</a:t>
            </a:r>
            <a:endParaRPr sz="2000"/>
          </a:p>
        </p:txBody>
      </p:sp>
      <p:sp>
        <p:nvSpPr>
          <p:cNvPr id="279" name="Google Shape;279;p27"/>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DM Mono"/>
                <a:ea typeface="DM Mono"/>
                <a:cs typeface="DM Mono"/>
                <a:sym typeface="DM Mono"/>
              </a:rPr>
              <a:t>Prove that if n is an integer greater than 3, then n! &gt; 2^n</a:t>
            </a:r>
            <a:endParaRPr baseline="30000" sz="1900">
              <a:latin typeface="DM Mono"/>
              <a:ea typeface="DM Mono"/>
              <a:cs typeface="DM Mono"/>
              <a:sym typeface="DM Mon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8"/>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a:t>But you might say: “This is competitive </a:t>
            </a:r>
            <a:r>
              <a:rPr i="1" lang="en"/>
              <a:t>programming</a:t>
            </a:r>
            <a:r>
              <a:rPr lang="en"/>
              <a:t>, not competitive mathematics.”</a:t>
            </a:r>
            <a:endParaRPr/>
          </a:p>
          <a:p>
            <a:pPr indent="-355600" lvl="0" marL="457200" rtl="0" algn="l">
              <a:spcBef>
                <a:spcPts val="0"/>
              </a:spcBef>
              <a:spcAft>
                <a:spcPts val="0"/>
              </a:spcAft>
              <a:buSzPts val="2000"/>
              <a:buChar char="→"/>
            </a:pPr>
            <a:r>
              <a:rPr lang="en"/>
              <a:t>In fact, (backwards) induction is used in a very powerful method called </a:t>
            </a:r>
            <a:r>
              <a:rPr i="1" lang="en"/>
              <a:t>dynamic programming</a:t>
            </a:r>
            <a:r>
              <a:rPr lang="en"/>
              <a:t>, which we will learn in time!</a:t>
            </a:r>
            <a:endParaRPr/>
          </a:p>
        </p:txBody>
      </p:sp>
      <p:sp>
        <p:nvSpPr>
          <p:cNvPr id="285" name="Google Shape;285;p28"/>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286" name="Google Shape;286;p28"/>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sz="2000"/>
              <a:t>Strategies for investigating problems &gt; Induction</a:t>
            </a:r>
            <a:endParaRPr sz="20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9"/>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a:t>A</a:t>
            </a:r>
            <a:r>
              <a:rPr lang="en"/>
              <a:t>wareness that problems can and should be reformulated in diﬀerent ways.</a:t>
            </a:r>
            <a:endParaRPr/>
          </a:p>
          <a:p>
            <a:pPr indent="-355600" lvl="0" marL="457200" rtl="0" algn="l">
              <a:spcBef>
                <a:spcPts val="0"/>
              </a:spcBef>
              <a:spcAft>
                <a:spcPts val="0"/>
              </a:spcAft>
              <a:buSzPts val="2000"/>
              <a:buChar char="→"/>
            </a:pPr>
            <a:r>
              <a:rPr lang="en"/>
              <a:t>Open your mind to other ways of reinterpreting problems!</a:t>
            </a:r>
            <a:endParaRPr/>
          </a:p>
          <a:p>
            <a:pPr indent="-355600" lvl="0" marL="457200" rtl="0" algn="l">
              <a:spcBef>
                <a:spcPts val="0"/>
              </a:spcBef>
              <a:spcAft>
                <a:spcPts val="0"/>
              </a:spcAft>
              <a:buSzPts val="2000"/>
              <a:buChar char="→"/>
            </a:pPr>
            <a:r>
              <a:rPr lang="en"/>
              <a:t>Sometimes a problem is hard only because we choose the “wrong” point of view. Spending a few minutes searching for the “natural” point of view can pay big dividends.</a:t>
            </a:r>
            <a:endParaRPr/>
          </a:p>
        </p:txBody>
      </p:sp>
      <p:sp>
        <p:nvSpPr>
          <p:cNvPr id="292" name="Google Shape;292;p29"/>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293" name="Google Shape;293;p29"/>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fontScale="85000"/>
          </a:bodyPr>
          <a:lstStyle/>
          <a:p>
            <a:pPr indent="0" lvl="0" marL="0" rtl="0" algn="l">
              <a:spcBef>
                <a:spcPts val="0"/>
              </a:spcBef>
              <a:spcAft>
                <a:spcPts val="0"/>
              </a:spcAft>
              <a:buNone/>
            </a:pPr>
            <a:r>
              <a:rPr lang="en" sz="2000"/>
              <a:t>Strategies for investigating problems &gt; Draw a picture/Recast/Change POV</a:t>
            </a:r>
            <a:endParaRPr sz="2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0"/>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latin typeface="DM Mono"/>
                <a:ea typeface="DM Mono"/>
                <a:cs typeface="DM Mono"/>
                <a:sym typeface="DM Mono"/>
              </a:rPr>
              <a:t>Remove the two diagonally opposite corner squares of a chessboard. Is it possible to tile this shape with thirty-one 2</a:t>
            </a:r>
            <a:r>
              <a:rPr lang="en">
                <a:latin typeface="DM Mono"/>
                <a:ea typeface="DM Mono"/>
                <a:cs typeface="DM Mono"/>
                <a:sym typeface="DM Mono"/>
              </a:rPr>
              <a:t>×</a:t>
            </a:r>
            <a:r>
              <a:rPr lang="en">
                <a:latin typeface="DM Mono"/>
                <a:ea typeface="DM Mono"/>
                <a:cs typeface="DM Mono"/>
                <a:sym typeface="DM Mono"/>
              </a:rPr>
              <a:t>1 “dominos?” (In other words, every square is covered and no dominos overlap.)</a:t>
            </a:r>
            <a:endParaRPr>
              <a:latin typeface="DM Mono"/>
              <a:ea typeface="DM Mono"/>
              <a:cs typeface="DM Mono"/>
              <a:sym typeface="DM Mono"/>
            </a:endParaRPr>
          </a:p>
          <a:p>
            <a:pPr indent="0" lvl="0" marL="0" rtl="0" algn="l">
              <a:spcBef>
                <a:spcPts val="1200"/>
              </a:spcBef>
              <a:spcAft>
                <a:spcPts val="1200"/>
              </a:spcAft>
              <a:buNone/>
            </a:pPr>
            <a:r>
              <a:t/>
            </a:r>
            <a:endParaRPr>
              <a:latin typeface="DM Mono"/>
              <a:ea typeface="DM Mono"/>
              <a:cs typeface="DM Mono"/>
              <a:sym typeface="DM Mono"/>
            </a:endParaRPr>
          </a:p>
        </p:txBody>
      </p:sp>
      <p:sp>
        <p:nvSpPr>
          <p:cNvPr id="299" name="Google Shape;299;p30"/>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300" name="Google Shape;300;p30"/>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fontScale="85000"/>
          </a:bodyPr>
          <a:lstStyle/>
          <a:p>
            <a:pPr indent="0" lvl="0" marL="0" rtl="0" algn="l">
              <a:spcBef>
                <a:spcPts val="0"/>
              </a:spcBef>
              <a:spcAft>
                <a:spcPts val="0"/>
              </a:spcAft>
              <a:buNone/>
            </a:pPr>
            <a:r>
              <a:rPr lang="en" sz="2000"/>
              <a:t>Strategies for investigating problems &gt; Draw a picture/Recast/Change POV</a:t>
            </a:r>
            <a:endParaRPr sz="20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1"/>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DM Mono"/>
                <a:ea typeface="DM Mono"/>
                <a:cs typeface="DM Mono"/>
                <a:sym typeface="DM Mono"/>
              </a:rPr>
              <a:t>Once again, you can easily use induction to prove the very cool fact that the sum of the first n perfect cubes is equal to the square of the nth triangular number, but can you do it with a picture, instead?</a:t>
            </a:r>
            <a:endParaRPr>
              <a:latin typeface="DM Mono"/>
              <a:ea typeface="DM Mono"/>
              <a:cs typeface="DM Mono"/>
              <a:sym typeface="DM Mono"/>
            </a:endParaRPr>
          </a:p>
        </p:txBody>
      </p:sp>
      <p:sp>
        <p:nvSpPr>
          <p:cNvPr id="306" name="Google Shape;306;p31"/>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307" name="Google Shape;307;p31"/>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fontScale="85000"/>
          </a:bodyPr>
          <a:lstStyle/>
          <a:p>
            <a:pPr indent="0" lvl="0" marL="0" rtl="0" algn="l">
              <a:spcBef>
                <a:spcPts val="0"/>
              </a:spcBef>
              <a:spcAft>
                <a:spcPts val="0"/>
              </a:spcAft>
              <a:buNone/>
            </a:pPr>
            <a:r>
              <a:rPr lang="en" sz="2000"/>
              <a:t>Strategies for investigating problems &gt; Draw a picture/Recast/Change POV</a:t>
            </a:r>
            <a:endParaRPr sz="2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2"/>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latin typeface="DM Mono"/>
                <a:ea typeface="DM Mono"/>
                <a:cs typeface="DM Mono"/>
                <a:sym typeface="DM Mono"/>
              </a:rPr>
              <a:t>What is the first time after 12 o’clock at which the hour and minute hands meet? This is an amusing and moderately hard algebra exercise, well worth doing if you never did it before. However, this problem can be solved in a few seconds in your head if you avoid messy algebra and just consider the “natural” point of view. Go for it!</a:t>
            </a:r>
            <a:endParaRPr>
              <a:latin typeface="DM Mono"/>
              <a:ea typeface="DM Mono"/>
              <a:cs typeface="DM Mono"/>
              <a:sym typeface="DM Mono"/>
            </a:endParaRPr>
          </a:p>
          <a:p>
            <a:pPr indent="0" lvl="0" marL="0" rtl="0" algn="l">
              <a:spcBef>
                <a:spcPts val="1200"/>
              </a:spcBef>
              <a:spcAft>
                <a:spcPts val="1200"/>
              </a:spcAft>
              <a:buNone/>
            </a:pPr>
            <a:r>
              <a:t/>
            </a:r>
            <a:endParaRPr>
              <a:latin typeface="DM Mono"/>
              <a:ea typeface="DM Mono"/>
              <a:cs typeface="DM Mono"/>
              <a:sym typeface="DM Mono"/>
            </a:endParaRPr>
          </a:p>
        </p:txBody>
      </p:sp>
      <p:sp>
        <p:nvSpPr>
          <p:cNvPr id="313" name="Google Shape;313;p32"/>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314" name="Google Shape;314;p32"/>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fontScale="85000"/>
          </a:bodyPr>
          <a:lstStyle/>
          <a:p>
            <a:pPr indent="0" lvl="0" marL="0" rtl="0" algn="l">
              <a:spcBef>
                <a:spcPts val="0"/>
              </a:spcBef>
              <a:spcAft>
                <a:spcPts val="0"/>
              </a:spcAft>
              <a:buNone/>
            </a:pPr>
            <a:r>
              <a:rPr lang="en" sz="2000"/>
              <a:t>Strategies for investigating problems &gt; Draw a picture/Recast/Change POV</a:t>
            </a:r>
            <a:endParaRPr sz="20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33"/>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320" name="Google Shape;320;p33"/>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sz="2000"/>
              <a:t>Strategies for investigating problems &gt; Symmetry</a:t>
            </a:r>
            <a:endParaRPr sz="2000"/>
          </a:p>
        </p:txBody>
      </p:sp>
      <p:sp>
        <p:nvSpPr>
          <p:cNvPr id="321" name="Google Shape;321;p33"/>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a:t>We call an object symmetric if there are one or more non-trivial “actions” that leave the object unchanged. We call the actions that do this the symmetries of the object.</a:t>
            </a:r>
            <a:endParaRPr/>
          </a:p>
          <a:p>
            <a:pPr indent="-355600" lvl="0" marL="457200" rtl="0" algn="l">
              <a:spcBef>
                <a:spcPts val="0"/>
              </a:spcBef>
              <a:spcAft>
                <a:spcPts val="0"/>
              </a:spcAft>
              <a:buSzPts val="2000"/>
              <a:buChar char="→"/>
            </a:pPr>
            <a:r>
              <a:rPr lang="en"/>
              <a:t>A square is symmetric with respect to reflection about a diagonal.</a:t>
            </a:r>
            <a:endParaRPr/>
          </a:p>
          <a:p>
            <a:pPr indent="-355600" lvl="0" marL="457200" rtl="0" algn="l">
              <a:spcBef>
                <a:spcPts val="0"/>
              </a:spcBef>
              <a:spcAft>
                <a:spcPts val="0"/>
              </a:spcAft>
              <a:buSzPts val="2000"/>
              <a:buChar char="→"/>
            </a:pPr>
            <a:r>
              <a:rPr lang="en"/>
              <a:t>A circle has infinitely many symmetries.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4"/>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327" name="Google Shape;327;p34"/>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sz="2000"/>
              <a:t>Strategies for investigating problems &gt; Symmetry</a:t>
            </a:r>
            <a:endParaRPr sz="2000"/>
          </a:p>
        </p:txBody>
      </p:sp>
      <p:sp>
        <p:nvSpPr>
          <p:cNvPr id="328" name="Google Shape;328;p34"/>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DM Mono"/>
                <a:ea typeface="DM Mono"/>
                <a:cs typeface="DM Mono"/>
                <a:sym typeface="DM Mono"/>
              </a:rPr>
              <a:t>A square is inscribed in a circle that is inscribed in a square. Find the ratio of the areas of the two squares.</a:t>
            </a:r>
            <a:endParaRPr>
              <a:latin typeface="DM Mono"/>
              <a:ea typeface="DM Mono"/>
              <a:cs typeface="DM Mono"/>
              <a:sym typeface="DM Mono"/>
            </a:endParaRPr>
          </a:p>
        </p:txBody>
      </p:sp>
      <p:pic>
        <p:nvPicPr>
          <p:cNvPr id="329" name="Google Shape;329;p34"/>
          <p:cNvPicPr preferRelativeResize="0"/>
          <p:nvPr/>
        </p:nvPicPr>
        <p:blipFill>
          <a:blip r:embed="rId3">
            <a:alphaModFix/>
          </a:blip>
          <a:stretch>
            <a:fillRect/>
          </a:stretch>
        </p:blipFill>
        <p:spPr>
          <a:xfrm>
            <a:off x="3362738" y="2040373"/>
            <a:ext cx="2418532" cy="24333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5"/>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335" name="Google Shape;335;p35"/>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sz="2000"/>
              <a:t>Strategies for investigating problems &gt; Symmetry</a:t>
            </a:r>
            <a:endParaRPr sz="2000"/>
          </a:p>
        </p:txBody>
      </p:sp>
      <p:sp>
        <p:nvSpPr>
          <p:cNvPr id="336" name="Google Shape;336;p35"/>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latin typeface="DM Mono"/>
                <a:ea typeface="DM Mono"/>
                <a:cs typeface="DM Mono"/>
                <a:sym typeface="DM Mono"/>
              </a:rPr>
              <a:t>Your cabin is two miles due north of a stream that runs east-west. Your grandmother’s cabin is located 12 miles west and one mile north of your cabin. Every day, you go from your cabin to Grandma’s, but first visit the stream (to get fresh water for Grandma). What is the length of the route with minimum distance?</a:t>
            </a:r>
            <a:endParaRPr>
              <a:latin typeface="DM Mono"/>
              <a:ea typeface="DM Mono"/>
              <a:cs typeface="DM Mono"/>
              <a:sym typeface="DM Mono"/>
            </a:endParaRPr>
          </a:p>
          <a:p>
            <a:pPr indent="0" lvl="0" marL="0" rtl="0" algn="l">
              <a:spcBef>
                <a:spcPts val="1200"/>
              </a:spcBef>
              <a:spcAft>
                <a:spcPts val="1200"/>
              </a:spcAft>
              <a:buNone/>
            </a:pPr>
            <a:r>
              <a:t/>
            </a:r>
            <a:endParaRPr>
              <a:latin typeface="DM Mono"/>
              <a:ea typeface="DM Mono"/>
              <a:cs typeface="DM Mono"/>
              <a:sym typeface="DM Mon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6"/>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342" name="Google Shape;342;p36"/>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sz="2000"/>
              <a:t>Strategies for investigating problems &gt; The extreme principle</a:t>
            </a:r>
            <a:endParaRPr sz="2000"/>
          </a:p>
        </p:txBody>
      </p:sp>
      <p:sp>
        <p:nvSpPr>
          <p:cNvPr id="343" name="Google Shape;343;p36"/>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a:t>If possible, assume that the elements of your problem are “in order.” Focus on the “largest” and “smallest” elements, as they may be constrained in interesting ways.</a:t>
            </a:r>
            <a:endParaRPr/>
          </a:p>
          <a:p>
            <a:pPr indent="-355600" lvl="0" marL="457200" rtl="0" algn="l">
              <a:spcBef>
                <a:spcPts val="0"/>
              </a:spcBef>
              <a:spcAft>
                <a:spcPts val="0"/>
              </a:spcAft>
              <a:buSzPts val="2000"/>
              <a:buChar char="→"/>
            </a:pPr>
            <a:r>
              <a:rPr lang="en"/>
              <a:t>Strategy-ception: Argument by contradiction.</a:t>
            </a:r>
            <a:endParaRPr/>
          </a:p>
          <a:p>
            <a:pPr indent="-330200" lvl="1" marL="914400" rtl="0" algn="l">
              <a:spcBef>
                <a:spcPts val="0"/>
              </a:spcBef>
              <a:spcAft>
                <a:spcPts val="0"/>
              </a:spcAft>
              <a:buSzPts val="1600"/>
              <a:buChar char="○"/>
            </a:pPr>
            <a:r>
              <a:rPr lang="en"/>
              <a:t>A</a:t>
            </a:r>
            <a:r>
              <a:rPr lang="en"/>
              <a:t>ssume that whatever you wish to prove is not true. Then look at the minimal (or maximal) element and develop an argument that creates a smaller (or larger) element, which is the desired contradiction.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7"/>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349" name="Google Shape;349;p37"/>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lnSpcReduction="10000"/>
          </a:bodyPr>
          <a:lstStyle/>
          <a:p>
            <a:pPr indent="0" lvl="0" marL="0" rtl="0" algn="l">
              <a:spcBef>
                <a:spcPts val="0"/>
              </a:spcBef>
              <a:spcAft>
                <a:spcPts val="0"/>
              </a:spcAft>
              <a:buNone/>
            </a:pPr>
            <a:r>
              <a:rPr lang="en" sz="2000"/>
              <a:t>Strategies for investigating problems &gt; The extreme principle</a:t>
            </a:r>
            <a:endParaRPr sz="2000"/>
          </a:p>
        </p:txBody>
      </p:sp>
      <p:sp>
        <p:nvSpPr>
          <p:cNvPr id="350" name="Google Shape;350;p37"/>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latin typeface="DM Mono"/>
                <a:ea typeface="DM Mono"/>
                <a:cs typeface="DM Mono"/>
                <a:sym typeface="DM Mono"/>
              </a:rPr>
              <a:t>Let B and W be finite sets of black and white points, respectively, in the plane, with the property that every line segment that joins two points of the same color contains a point of the other color. Prove that both sets must lie on a single line segment.</a:t>
            </a:r>
            <a:endParaRPr>
              <a:latin typeface="DM Mono"/>
              <a:ea typeface="DM Mono"/>
              <a:cs typeface="DM Mono"/>
              <a:sym typeface="DM Mono"/>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8"/>
          <p:cNvSpPr txBox="1"/>
          <p:nvPr>
            <p:ph idx="12" type="sldNum"/>
          </p:nvPr>
        </p:nvSpPr>
        <p:spPr>
          <a:xfrm>
            <a:off x="8686825" y="468625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356" name="Google Shape;356;p38"/>
          <p:cNvSpPr txBox="1"/>
          <p:nvPr>
            <p:ph type="title"/>
          </p:nvPr>
        </p:nvSpPr>
        <p:spPr>
          <a:xfrm>
            <a:off x="457200" y="457200"/>
            <a:ext cx="8229600" cy="4229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Some more problems and homework</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9"/>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362" name="Google Shape;362;p39"/>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fontScale="77500" lnSpcReduction="20000"/>
          </a:bodyPr>
          <a:lstStyle/>
          <a:p>
            <a:pPr indent="0" lvl="0" marL="0" rtl="0" algn="l">
              <a:spcBef>
                <a:spcPts val="0"/>
              </a:spcBef>
              <a:spcAft>
                <a:spcPts val="0"/>
              </a:spcAft>
              <a:buNone/>
            </a:pPr>
            <a:r>
              <a:rPr lang="en" sz="2800"/>
              <a:t>Some more problems and homework</a:t>
            </a:r>
            <a:endParaRPr sz="2800"/>
          </a:p>
        </p:txBody>
      </p:sp>
      <p:sp>
        <p:nvSpPr>
          <p:cNvPr id="363" name="Google Shape;363;p39"/>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a:t>https://kcpc.orthant.co.uk/api/r/resources/1769612762895_workshop2_problems.pdf</a:t>
            </a:r>
            <a:endParaRPr/>
          </a:p>
          <a:p>
            <a:pPr indent="-355600" lvl="0" marL="457200" rtl="0" algn="l">
              <a:spcBef>
                <a:spcPts val="0"/>
              </a:spcBef>
              <a:spcAft>
                <a:spcPts val="0"/>
              </a:spcAft>
              <a:buSzPts val="2000"/>
              <a:buChar char="→"/>
            </a:pPr>
            <a:r>
              <a:rPr lang="en"/>
              <a:t>https://kcpc.orthant.co.uk/l/w2-p</a:t>
            </a:r>
            <a:endParaRPr/>
          </a:p>
        </p:txBody>
      </p:sp>
      <p:pic>
        <p:nvPicPr>
          <p:cNvPr id="364" name="Google Shape;364;p39" title="qr-code.jpg"/>
          <p:cNvPicPr preferRelativeResize="0"/>
          <p:nvPr/>
        </p:nvPicPr>
        <p:blipFill>
          <a:blip r:embed="rId3">
            <a:alphaModFix/>
          </a:blip>
          <a:stretch>
            <a:fillRect/>
          </a:stretch>
        </p:blipFill>
        <p:spPr>
          <a:xfrm>
            <a:off x="3441975" y="2197421"/>
            <a:ext cx="2260025" cy="22600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0"/>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370" name="Google Shape;370;p40"/>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fontScale="77500" lnSpcReduction="20000"/>
          </a:bodyPr>
          <a:lstStyle/>
          <a:p>
            <a:pPr indent="0" lvl="0" marL="0" rtl="0" algn="l">
              <a:spcBef>
                <a:spcPts val="0"/>
              </a:spcBef>
              <a:spcAft>
                <a:spcPts val="0"/>
              </a:spcAft>
              <a:buNone/>
            </a:pPr>
            <a:r>
              <a:rPr lang="en" sz="2800"/>
              <a:t>Some more problems and homework</a:t>
            </a:r>
            <a:endParaRPr sz="2800"/>
          </a:p>
        </p:txBody>
      </p:sp>
      <p:sp>
        <p:nvSpPr>
          <p:cNvPr id="371" name="Google Shape;371;p40"/>
          <p:cNvSpPr txBox="1"/>
          <p:nvPr>
            <p:ph idx="2" type="body"/>
          </p:nvPr>
        </p:nvSpPr>
        <p:spPr>
          <a:xfrm>
            <a:off x="457200" y="914400"/>
            <a:ext cx="8229600" cy="37719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latin typeface="DM Mono"/>
                <a:ea typeface="DM Mono"/>
                <a:cs typeface="DM Mono"/>
                <a:sym typeface="DM Mono"/>
              </a:rPr>
              <a:t>Beed has integers </a:t>
            </a:r>
            <a:r>
              <a:rPr i="1" lang="en">
                <a:latin typeface="DM Mono"/>
                <a:ea typeface="DM Mono"/>
                <a:cs typeface="DM Mono"/>
                <a:sym typeface="DM Mono"/>
              </a:rPr>
              <a:t>x</a:t>
            </a:r>
            <a:r>
              <a:rPr lang="en">
                <a:latin typeface="DM Mono"/>
                <a:ea typeface="DM Mono"/>
                <a:cs typeface="DM Mono"/>
                <a:sym typeface="DM Mono"/>
              </a:rPr>
              <a:t> and </a:t>
            </a:r>
            <a:r>
              <a:rPr i="1" lang="en">
                <a:latin typeface="DM Mono"/>
                <a:ea typeface="DM Mono"/>
                <a:cs typeface="DM Mono"/>
                <a:sym typeface="DM Mono"/>
              </a:rPr>
              <a:t>y</a:t>
            </a:r>
            <a:r>
              <a:rPr lang="en">
                <a:latin typeface="DM Mono"/>
                <a:ea typeface="DM Mono"/>
                <a:cs typeface="DM Mono"/>
                <a:sym typeface="DM Mono"/>
              </a:rPr>
              <a:t>. Initially, </a:t>
            </a:r>
            <a:r>
              <a:rPr i="1" lang="en">
                <a:latin typeface="DM Mono"/>
                <a:ea typeface="DM Mono"/>
                <a:cs typeface="DM Mono"/>
                <a:sym typeface="DM Mono"/>
              </a:rPr>
              <a:t>x</a:t>
            </a:r>
            <a:r>
              <a:rPr lang="en">
                <a:latin typeface="DM Mono"/>
                <a:ea typeface="DM Mono"/>
                <a:cs typeface="DM Mono"/>
                <a:sym typeface="DM Mono"/>
              </a:rPr>
              <a:t> = 0, </a:t>
            </a:r>
            <a:r>
              <a:rPr i="1" lang="en">
                <a:latin typeface="DM Mono"/>
                <a:ea typeface="DM Mono"/>
                <a:cs typeface="DM Mono"/>
                <a:sym typeface="DM Mono"/>
              </a:rPr>
              <a:t>y</a:t>
            </a:r>
            <a:r>
              <a:rPr lang="en">
                <a:latin typeface="DM Mono"/>
                <a:ea typeface="DM Mono"/>
                <a:cs typeface="DM Mono"/>
                <a:sym typeface="DM Mono"/>
              </a:rPr>
              <a:t> = 0. Beed can do the following four operations any number of times in any order:</a:t>
            </a:r>
            <a:endParaRPr>
              <a:latin typeface="DM Mono"/>
              <a:ea typeface="DM Mono"/>
              <a:cs typeface="DM Mono"/>
              <a:sym typeface="DM Mono"/>
            </a:endParaRPr>
          </a:p>
          <a:p>
            <a:pPr indent="-336550" lvl="0" marL="457200" rtl="0" algn="l">
              <a:spcBef>
                <a:spcPts val="1200"/>
              </a:spcBef>
              <a:spcAft>
                <a:spcPts val="0"/>
              </a:spcAft>
              <a:buSzPct val="100000"/>
              <a:buChar char="→"/>
            </a:pPr>
            <a:r>
              <a:rPr lang="en">
                <a:latin typeface="DM Mono"/>
                <a:ea typeface="DM Mono"/>
                <a:cs typeface="DM Mono"/>
                <a:sym typeface="DM Mono"/>
              </a:rPr>
              <a:t>Operation 1: Replace the value of </a:t>
            </a:r>
            <a:r>
              <a:rPr i="1" lang="en">
                <a:latin typeface="DM Mono"/>
                <a:ea typeface="DM Mono"/>
                <a:cs typeface="DM Mono"/>
                <a:sym typeface="DM Mono"/>
              </a:rPr>
              <a:t>x</a:t>
            </a:r>
            <a:r>
              <a:rPr lang="en">
                <a:latin typeface="DM Mono"/>
                <a:ea typeface="DM Mono"/>
                <a:cs typeface="DM Mono"/>
                <a:sym typeface="DM Mono"/>
              </a:rPr>
              <a:t> with </a:t>
            </a:r>
            <a:r>
              <a:rPr i="1" lang="en">
                <a:latin typeface="DM Mono"/>
                <a:ea typeface="DM Mono"/>
                <a:cs typeface="DM Mono"/>
                <a:sym typeface="DM Mono"/>
              </a:rPr>
              <a:t>x</a:t>
            </a:r>
            <a:r>
              <a:rPr lang="en">
                <a:latin typeface="DM Mono"/>
                <a:ea typeface="DM Mono"/>
                <a:cs typeface="DM Mono"/>
                <a:sym typeface="DM Mono"/>
              </a:rPr>
              <a:t> + 1.</a:t>
            </a:r>
            <a:endParaRPr/>
          </a:p>
          <a:p>
            <a:pPr indent="-336550" lvl="0" marL="457200" rtl="0" algn="l">
              <a:spcBef>
                <a:spcPts val="0"/>
              </a:spcBef>
              <a:spcAft>
                <a:spcPts val="0"/>
              </a:spcAft>
              <a:buSzPct val="100000"/>
              <a:buChar char="→"/>
            </a:pPr>
            <a:r>
              <a:rPr lang="en">
                <a:latin typeface="DM Mono"/>
                <a:ea typeface="DM Mono"/>
                <a:cs typeface="DM Mono"/>
                <a:sym typeface="DM Mono"/>
              </a:rPr>
              <a:t>Operation 2: Replace the value of </a:t>
            </a:r>
            <a:r>
              <a:rPr i="1" lang="en">
                <a:latin typeface="DM Mono"/>
                <a:ea typeface="DM Mono"/>
                <a:cs typeface="DM Mono"/>
                <a:sym typeface="DM Mono"/>
              </a:rPr>
              <a:t>y</a:t>
            </a:r>
            <a:r>
              <a:rPr lang="en">
                <a:latin typeface="DM Mono"/>
                <a:ea typeface="DM Mono"/>
                <a:cs typeface="DM Mono"/>
                <a:sym typeface="DM Mono"/>
              </a:rPr>
              <a:t> with </a:t>
            </a:r>
            <a:r>
              <a:rPr i="1" lang="en">
                <a:latin typeface="DM Mono"/>
                <a:ea typeface="DM Mono"/>
                <a:cs typeface="DM Mono"/>
                <a:sym typeface="DM Mono"/>
              </a:rPr>
              <a:t>y</a:t>
            </a:r>
            <a:r>
              <a:rPr lang="en">
                <a:latin typeface="DM Mono"/>
                <a:ea typeface="DM Mono"/>
                <a:cs typeface="DM Mono"/>
                <a:sym typeface="DM Mono"/>
              </a:rPr>
              <a:t> + 1.</a:t>
            </a:r>
            <a:endParaRPr/>
          </a:p>
          <a:p>
            <a:pPr indent="-336550" lvl="0" marL="457200" rtl="0" algn="l">
              <a:spcBef>
                <a:spcPts val="0"/>
              </a:spcBef>
              <a:spcAft>
                <a:spcPts val="0"/>
              </a:spcAft>
              <a:buSzPct val="100000"/>
              <a:buChar char="→"/>
            </a:pPr>
            <a:r>
              <a:rPr lang="en">
                <a:latin typeface="DM Mono"/>
                <a:ea typeface="DM Mono"/>
                <a:cs typeface="DM Mono"/>
                <a:sym typeface="DM Mono"/>
              </a:rPr>
              <a:t>Operation 3: Replace the value of </a:t>
            </a:r>
            <a:r>
              <a:rPr i="1" lang="en">
                <a:latin typeface="DM Mono"/>
                <a:ea typeface="DM Mono"/>
                <a:cs typeface="DM Mono"/>
                <a:sym typeface="DM Mono"/>
              </a:rPr>
              <a:t>x</a:t>
            </a:r>
            <a:r>
              <a:rPr lang="en">
                <a:latin typeface="DM Mono"/>
                <a:ea typeface="DM Mono"/>
                <a:cs typeface="DM Mono"/>
                <a:sym typeface="DM Mono"/>
              </a:rPr>
              <a:t> with </a:t>
            </a:r>
            <a:r>
              <a:rPr i="1" lang="en">
                <a:latin typeface="DM Mono"/>
                <a:ea typeface="DM Mono"/>
                <a:cs typeface="DM Mono"/>
                <a:sym typeface="DM Mono"/>
              </a:rPr>
              <a:t>x</a:t>
            </a:r>
            <a:r>
              <a:rPr lang="en">
                <a:latin typeface="DM Mono"/>
                <a:ea typeface="DM Mono"/>
                <a:cs typeface="DM Mono"/>
                <a:sym typeface="DM Mono"/>
              </a:rPr>
              <a:t> + </a:t>
            </a:r>
            <a:r>
              <a:rPr i="1" lang="en">
                <a:latin typeface="DM Mono"/>
                <a:ea typeface="DM Mono"/>
                <a:cs typeface="DM Mono"/>
                <a:sym typeface="DM Mono"/>
              </a:rPr>
              <a:t>y</a:t>
            </a:r>
            <a:r>
              <a:rPr lang="en">
                <a:latin typeface="DM Mono"/>
                <a:ea typeface="DM Mono"/>
                <a:cs typeface="DM Mono"/>
                <a:sym typeface="DM Mono"/>
              </a:rPr>
              <a:t>.</a:t>
            </a:r>
            <a:endParaRPr/>
          </a:p>
          <a:p>
            <a:pPr indent="-336550" lvl="0" marL="457200" rtl="0" algn="l">
              <a:spcBef>
                <a:spcPts val="0"/>
              </a:spcBef>
              <a:spcAft>
                <a:spcPts val="0"/>
              </a:spcAft>
              <a:buSzPct val="100000"/>
              <a:buChar char="→"/>
            </a:pPr>
            <a:r>
              <a:rPr lang="en">
                <a:latin typeface="DM Mono"/>
                <a:ea typeface="DM Mono"/>
                <a:cs typeface="DM Mono"/>
                <a:sym typeface="DM Mono"/>
              </a:rPr>
              <a:t>Operation 4: Replace the value of </a:t>
            </a:r>
            <a:r>
              <a:rPr i="1" lang="en">
                <a:latin typeface="DM Mono"/>
                <a:ea typeface="DM Mono"/>
                <a:cs typeface="DM Mono"/>
                <a:sym typeface="DM Mono"/>
              </a:rPr>
              <a:t>y</a:t>
            </a:r>
            <a:r>
              <a:rPr lang="en">
                <a:latin typeface="DM Mono"/>
                <a:ea typeface="DM Mono"/>
                <a:cs typeface="DM Mono"/>
                <a:sym typeface="DM Mono"/>
              </a:rPr>
              <a:t> with </a:t>
            </a:r>
            <a:r>
              <a:rPr i="1" lang="en">
                <a:latin typeface="DM Mono"/>
                <a:ea typeface="DM Mono"/>
                <a:cs typeface="DM Mono"/>
                <a:sym typeface="DM Mono"/>
              </a:rPr>
              <a:t>x</a:t>
            </a:r>
            <a:r>
              <a:rPr lang="en">
                <a:latin typeface="DM Mono"/>
                <a:ea typeface="DM Mono"/>
                <a:cs typeface="DM Mono"/>
                <a:sym typeface="DM Mono"/>
              </a:rPr>
              <a:t> + </a:t>
            </a:r>
            <a:r>
              <a:rPr i="1" lang="en">
                <a:latin typeface="DM Mono"/>
                <a:ea typeface="DM Mono"/>
                <a:cs typeface="DM Mono"/>
                <a:sym typeface="DM Mono"/>
              </a:rPr>
              <a:t>y</a:t>
            </a:r>
            <a:r>
              <a:rPr lang="en">
                <a:latin typeface="DM Mono"/>
                <a:ea typeface="DM Mono"/>
                <a:cs typeface="DM Mono"/>
                <a:sym typeface="DM Mono"/>
              </a:rPr>
              <a:t>.</a:t>
            </a:r>
            <a:endParaRPr/>
          </a:p>
          <a:p>
            <a:pPr indent="0" lvl="0" marL="0" rtl="0" algn="l">
              <a:spcBef>
                <a:spcPts val="1200"/>
              </a:spcBef>
              <a:spcAft>
                <a:spcPts val="0"/>
              </a:spcAft>
              <a:buNone/>
            </a:pPr>
            <a:r>
              <a:rPr lang="en">
                <a:latin typeface="DM Mono"/>
                <a:ea typeface="DM Mono"/>
                <a:cs typeface="DM Mono"/>
                <a:sym typeface="DM Mono"/>
              </a:rPr>
              <a:t>You are given a positive integer </a:t>
            </a:r>
            <a:r>
              <a:rPr i="1" lang="en">
                <a:latin typeface="DM Mono"/>
                <a:ea typeface="DM Mono"/>
                <a:cs typeface="DM Mono"/>
                <a:sym typeface="DM Mono"/>
              </a:rPr>
              <a:t>N</a:t>
            </a:r>
            <a:r>
              <a:rPr lang="en">
                <a:latin typeface="DM Mono"/>
                <a:ea typeface="DM Mono"/>
                <a:cs typeface="DM Mono"/>
                <a:sym typeface="DM Mono"/>
              </a:rPr>
              <a:t>. Do at most 130 operations so that </a:t>
            </a:r>
            <a:r>
              <a:rPr i="1" lang="en">
                <a:latin typeface="DM Mono"/>
                <a:ea typeface="DM Mono"/>
                <a:cs typeface="DM Mono"/>
                <a:sym typeface="DM Mono"/>
              </a:rPr>
              <a:t>x</a:t>
            </a:r>
            <a:r>
              <a:rPr lang="en">
                <a:latin typeface="DM Mono"/>
                <a:ea typeface="DM Mono"/>
                <a:cs typeface="DM Mono"/>
                <a:sym typeface="DM Mono"/>
              </a:rPr>
              <a:t> will have the value </a:t>
            </a:r>
            <a:r>
              <a:rPr i="1" lang="en">
                <a:latin typeface="DM Mono"/>
                <a:ea typeface="DM Mono"/>
                <a:cs typeface="DM Mono"/>
                <a:sym typeface="DM Mono"/>
              </a:rPr>
              <a:t>N</a:t>
            </a:r>
            <a:r>
              <a:rPr lang="en">
                <a:latin typeface="DM Mono"/>
                <a:ea typeface="DM Mono"/>
                <a:cs typeface="DM Mono"/>
                <a:sym typeface="DM Mono"/>
              </a:rPr>
              <a:t>. Here, </a:t>
            </a:r>
            <a:r>
              <a:rPr i="1" lang="en">
                <a:latin typeface="DM Mono"/>
                <a:ea typeface="DM Mono"/>
                <a:cs typeface="DM Mono"/>
                <a:sym typeface="DM Mono"/>
              </a:rPr>
              <a:t>y</a:t>
            </a:r>
            <a:r>
              <a:rPr lang="en">
                <a:latin typeface="DM Mono"/>
                <a:ea typeface="DM Mono"/>
                <a:cs typeface="DM Mono"/>
                <a:sym typeface="DM Mono"/>
              </a:rPr>
              <a:t> can have any value. And, list out the operations you performed.</a:t>
            </a:r>
            <a:endParaRPr>
              <a:latin typeface="DM Mono"/>
              <a:ea typeface="DM Mono"/>
              <a:cs typeface="DM Mono"/>
              <a:sym typeface="DM Mono"/>
            </a:endParaRPr>
          </a:p>
          <a:p>
            <a:pPr indent="0" lvl="0" marL="0" rtl="0" algn="l">
              <a:spcBef>
                <a:spcPts val="1200"/>
              </a:spcBef>
              <a:spcAft>
                <a:spcPts val="1200"/>
              </a:spcAft>
              <a:buNone/>
            </a:pPr>
            <a:r>
              <a:rPr lang="en">
                <a:latin typeface="DM Mono"/>
                <a:ea typeface="DM Mono"/>
                <a:cs typeface="DM Mono"/>
                <a:sym typeface="DM Mono"/>
              </a:rPr>
              <a:t>We can prove that such a sequence of operations exists under the constraints of this problem.</a:t>
            </a:r>
            <a:endParaRPr>
              <a:latin typeface="DM Mono"/>
              <a:ea typeface="DM Mono"/>
              <a:cs typeface="DM Mono"/>
              <a:sym typeface="DM Mon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p41"/>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377" name="Google Shape;377;p41"/>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fontScale="77500" lnSpcReduction="20000"/>
          </a:bodyPr>
          <a:lstStyle/>
          <a:p>
            <a:pPr indent="0" lvl="0" marL="0" rtl="0" algn="l">
              <a:spcBef>
                <a:spcPts val="0"/>
              </a:spcBef>
              <a:spcAft>
                <a:spcPts val="0"/>
              </a:spcAft>
              <a:buNone/>
            </a:pPr>
            <a:r>
              <a:rPr lang="en" sz="2800"/>
              <a:t>Some more problems and homework</a:t>
            </a:r>
            <a:endParaRPr sz="2800"/>
          </a:p>
        </p:txBody>
      </p:sp>
      <p:sp>
        <p:nvSpPr>
          <p:cNvPr id="378" name="Google Shape;378;p41"/>
          <p:cNvSpPr txBox="1"/>
          <p:nvPr>
            <p:ph idx="2" type="body"/>
          </p:nvPr>
        </p:nvSpPr>
        <p:spPr>
          <a:xfrm>
            <a:off x="457200" y="914400"/>
            <a:ext cx="8229600" cy="37719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latin typeface="DM Mono"/>
                <a:ea typeface="DM Mono"/>
                <a:cs typeface="DM Mono"/>
                <a:sym typeface="DM Mono"/>
              </a:rPr>
              <a:t>There are </a:t>
            </a:r>
            <a:r>
              <a:rPr i="1" lang="en">
                <a:latin typeface="DM Mono"/>
                <a:ea typeface="DM Mono"/>
                <a:cs typeface="DM Mono"/>
                <a:sym typeface="DM Mono"/>
              </a:rPr>
              <a:t>N</a:t>
            </a:r>
            <a:r>
              <a:rPr lang="en">
                <a:latin typeface="DM Mono"/>
                <a:ea typeface="DM Mono"/>
                <a:cs typeface="DM Mono"/>
                <a:sym typeface="DM Mono"/>
              </a:rPr>
              <a:t> cookies on a desk. Each cookie has a positive integer on its surface: </a:t>
            </a:r>
            <a:r>
              <a:rPr i="1" lang="en">
                <a:latin typeface="DM Mono"/>
                <a:ea typeface="DM Mono"/>
                <a:cs typeface="DM Mono"/>
                <a:sym typeface="DM Mono"/>
              </a:rPr>
              <a:t>A</a:t>
            </a:r>
            <a:r>
              <a:rPr lang="en">
                <a:latin typeface="DM Mono"/>
                <a:ea typeface="DM Mono"/>
                <a:cs typeface="DM Mono"/>
                <a:sym typeface="DM Mono"/>
              </a:rPr>
              <a:t>1, </a:t>
            </a:r>
            <a:r>
              <a:rPr i="1" lang="en">
                <a:latin typeface="DM Mono"/>
                <a:ea typeface="DM Mono"/>
                <a:cs typeface="DM Mono"/>
                <a:sym typeface="DM Mono"/>
              </a:rPr>
              <a:t>A</a:t>
            </a:r>
            <a:r>
              <a:rPr lang="en">
                <a:latin typeface="DM Mono"/>
                <a:ea typeface="DM Mono"/>
                <a:cs typeface="DM Mono"/>
                <a:sym typeface="DM Mono"/>
              </a:rPr>
              <a:t>2,..., </a:t>
            </a:r>
            <a:r>
              <a:rPr i="1" lang="en">
                <a:latin typeface="DM Mono"/>
                <a:ea typeface="DM Mono"/>
                <a:cs typeface="DM Mono"/>
                <a:sym typeface="DM Mono"/>
              </a:rPr>
              <a:t>AN</a:t>
            </a:r>
            <a:r>
              <a:rPr lang="en">
                <a:latin typeface="DM Mono"/>
                <a:ea typeface="DM Mono"/>
                <a:cs typeface="DM Mono"/>
                <a:sym typeface="DM Mono"/>
              </a:rPr>
              <a:t>, which are all different. Let us play a game with two players using these cookies. In this game, the players alternately do the following action:</a:t>
            </a:r>
            <a:endParaRPr>
              <a:latin typeface="DM Mono"/>
              <a:ea typeface="DM Mono"/>
              <a:cs typeface="DM Mono"/>
              <a:sym typeface="DM Mono"/>
            </a:endParaRPr>
          </a:p>
          <a:p>
            <a:pPr indent="0" lvl="0" marL="0" rtl="0" algn="l">
              <a:spcBef>
                <a:spcPts val="1200"/>
              </a:spcBef>
              <a:spcAft>
                <a:spcPts val="0"/>
              </a:spcAft>
              <a:buNone/>
            </a:pPr>
            <a:r>
              <a:rPr lang="en">
                <a:latin typeface="DM Mono"/>
                <a:ea typeface="DM Mono"/>
                <a:cs typeface="DM Mono"/>
                <a:sym typeface="DM Mono"/>
              </a:rPr>
              <a:t>Choose a cookie on the desk and eat it. Then, if the XOR of the integers written on the remaining cookies on the desk becomes 0, the player wins, and the game ends.</a:t>
            </a:r>
            <a:endParaRPr>
              <a:latin typeface="DM Mono"/>
              <a:ea typeface="DM Mono"/>
              <a:cs typeface="DM Mono"/>
              <a:sym typeface="DM Mono"/>
            </a:endParaRPr>
          </a:p>
          <a:p>
            <a:pPr indent="0" lvl="0" marL="0" rtl="0" algn="l">
              <a:spcBef>
                <a:spcPts val="1200"/>
              </a:spcBef>
              <a:spcAft>
                <a:spcPts val="0"/>
              </a:spcAft>
              <a:buClr>
                <a:schemeClr val="dk1"/>
              </a:buClr>
              <a:buSzPct val="55000"/>
              <a:buFont typeface="Arial"/>
              <a:buNone/>
            </a:pPr>
            <a:r>
              <a:rPr lang="en">
                <a:latin typeface="DM Mono"/>
                <a:ea typeface="DM Mono"/>
                <a:cs typeface="DM Mono"/>
                <a:sym typeface="DM Mono"/>
              </a:rPr>
              <a:t>You have asked Matthew to play this game with you. You go first, and Matthew goes second. Are you going to win if both players play optimally?</a:t>
            </a:r>
            <a:endParaRPr>
              <a:latin typeface="DM Mono"/>
              <a:ea typeface="DM Mono"/>
              <a:cs typeface="DM Mono"/>
              <a:sym typeface="DM Mono"/>
            </a:endParaRPr>
          </a:p>
          <a:p>
            <a:pPr indent="0" lvl="0" marL="0" rtl="0" algn="l">
              <a:spcBef>
                <a:spcPts val="1200"/>
              </a:spcBef>
              <a:spcAft>
                <a:spcPts val="1200"/>
              </a:spcAft>
              <a:buNone/>
            </a:pPr>
            <a:r>
              <a:rPr i="1" lang="en">
                <a:latin typeface="DM Mono"/>
                <a:ea typeface="DM Mono"/>
                <a:cs typeface="DM Mono"/>
                <a:sym typeface="DM Mono"/>
              </a:rPr>
              <a:t>Hint: You don’t need to prove that your solution works rigorously. In competitive programming, getting “accepted” </a:t>
            </a:r>
            <a:r>
              <a:rPr b="1" i="1" lang="en">
                <a:latin typeface="DM Mono"/>
                <a:ea typeface="DM Mono"/>
                <a:cs typeface="DM Mono"/>
                <a:sym typeface="DM Mono"/>
              </a:rPr>
              <a:t>is</a:t>
            </a:r>
            <a:r>
              <a:rPr i="1" lang="en">
                <a:latin typeface="DM Mono"/>
                <a:ea typeface="DM Mono"/>
                <a:cs typeface="DM Mono"/>
                <a:sym typeface="DM Mono"/>
              </a:rPr>
              <a:t> a proof method.</a:t>
            </a:r>
            <a:endParaRPr>
              <a:latin typeface="DM Mono"/>
              <a:ea typeface="DM Mono"/>
              <a:cs typeface="DM Mono"/>
              <a:sym typeface="DM Mon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42"/>
          <p:cNvSpPr txBox="1"/>
          <p:nvPr>
            <p:ph idx="12" type="sldNum"/>
          </p:nvPr>
        </p:nvSpPr>
        <p:spPr>
          <a:xfrm>
            <a:off x="8686825" y="468625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
        <p:nvSpPr>
          <p:cNvPr id="384" name="Google Shape;384;p42"/>
          <p:cNvSpPr txBox="1"/>
          <p:nvPr>
            <p:ph type="title"/>
          </p:nvPr>
        </p:nvSpPr>
        <p:spPr>
          <a:xfrm>
            <a:off x="457200" y="457200"/>
            <a:ext cx="8229600" cy="4229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Final messages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3"/>
          <p:cNvSpPr txBox="1"/>
          <p:nvPr>
            <p:ph idx="1" type="subTitle"/>
          </p:nvPr>
        </p:nvSpPr>
        <p:spPr>
          <a:xfrm>
            <a:off x="457200" y="457200"/>
            <a:ext cx="8229600" cy="457200"/>
          </a:xfrm>
          <a:prstGeom prst="rect">
            <a:avLst/>
          </a:prstGeom>
        </p:spPr>
        <p:txBody>
          <a:bodyPr anchorCtr="0" anchor="ctr" bIns="91425" lIns="91425" spcFirstLastPara="1" rIns="91425" wrap="square" tIns="91425">
            <a:normAutofit fontScale="92500" lnSpcReduction="20000"/>
          </a:bodyPr>
          <a:lstStyle/>
          <a:p>
            <a:pPr indent="0" lvl="0" marL="0" rtl="0" algn="l">
              <a:spcBef>
                <a:spcPts val="0"/>
              </a:spcBef>
              <a:spcAft>
                <a:spcPts val="0"/>
              </a:spcAft>
              <a:buNone/>
            </a:pPr>
            <a:r>
              <a:rPr lang="en"/>
              <a:t>Final messages</a:t>
            </a:r>
            <a:endParaRPr/>
          </a:p>
        </p:txBody>
      </p:sp>
      <p:sp>
        <p:nvSpPr>
          <p:cNvPr id="390" name="Google Shape;390;p43"/>
          <p:cNvSpPr txBox="1"/>
          <p:nvPr>
            <p:ph idx="2" type="body"/>
          </p:nvPr>
        </p:nvSpPr>
        <p:spPr>
          <a:xfrm>
            <a:off x="457200" y="914400"/>
            <a:ext cx="8229600" cy="37719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n"/>
              <a:t>Next week we will look at an interesting domain: </a:t>
            </a:r>
            <a:r>
              <a:rPr b="1" i="1" lang="en"/>
              <a:t>L</a:t>
            </a:r>
            <a:r>
              <a:rPr b="1" i="1" lang="en"/>
              <a:t>ambda Calculus</a:t>
            </a:r>
            <a:endParaRPr b="1" i="1"/>
          </a:p>
          <a:p>
            <a:pPr indent="-355600" lvl="0" marL="457200" rtl="0" algn="l">
              <a:spcBef>
                <a:spcPts val="0"/>
              </a:spcBef>
              <a:spcAft>
                <a:spcPts val="0"/>
              </a:spcAft>
              <a:buSzPts val="2000"/>
              <a:buChar char="→"/>
            </a:pPr>
            <a:r>
              <a:rPr lang="en"/>
              <a:t>We want you curious and wearing your thinking hats!</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(p.s. you can check out what that means, but a sneak peak is that you’re going to create </a:t>
            </a:r>
            <a:r>
              <a:rPr i="1" lang="en"/>
              <a:t>your</a:t>
            </a:r>
            <a:r>
              <a:rPr lang="en"/>
              <a:t> mathematics!)</a:t>
            </a:r>
            <a:endParaRPr/>
          </a:p>
        </p:txBody>
      </p:sp>
      <p:sp>
        <p:nvSpPr>
          <p:cNvPr id="391" name="Google Shape;391;p43"/>
          <p:cNvSpPr txBox="1"/>
          <p:nvPr>
            <p:ph idx="12" type="sldNum"/>
          </p:nvPr>
        </p:nvSpPr>
        <p:spPr>
          <a:xfrm>
            <a:off x="8686800" y="4686300"/>
            <a:ext cx="457200" cy="457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